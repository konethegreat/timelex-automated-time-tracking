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3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Hours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B8EF0"/>
              </a:solidFill>
              <a:effectLst/>
            </c:spPr>
          </c:dPt>
          <c:dPt>
            <c:idx val="1"/>
            <c:bubble3D val="0"/>
            <c:spPr>
              <a:solidFill>
                <a:srgbClr val="4CAF82"/>
              </a:solidFill>
              <a:effectLst/>
            </c:spPr>
          </c:dPt>
          <c:dPt>
            <c:idx val="2"/>
            <c:bubble3D val="0"/>
            <c:spPr>
              <a:solidFill>
                <a:srgbClr val="8B5CF6"/>
              </a:solidFill>
              <a:effectLst/>
            </c:spPr>
          </c:dPt>
          <c:dPt>
            <c:idx val="3"/>
            <c:bubble3D val="0"/>
            <c:spPr>
              <a:solidFill>
                <a:srgbClr val="E08A3C"/>
              </a:solidFill>
              <a:effectLst/>
            </c:spPr>
          </c:dPt>
          <c:dPt>
            <c:idx val="4"/>
            <c:bubble3D val="0"/>
            <c:spPr>
              <a:solidFill>
                <a:srgbClr val="C9A84C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Email</c:v>
                </c:pt>
                <c:pt idx="1">
                  <c:v>Meeting</c:v>
                </c:pt>
                <c:pt idx="2">
                  <c:v>Document</c:v>
                </c:pt>
                <c:pt idx="3">
                  <c:v>Call</c:v>
                </c:pt>
                <c:pt idx="4">
                  <c:v>Research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2.2</c:v>
                </c:pt>
                <c:pt idx="1">
                  <c:v>1.8</c:v>
                </c:pt>
                <c:pt idx="2">
                  <c:v>3.1</c:v>
                </c:pt>
                <c:pt idx="3">
                  <c:v>0.8</c:v>
                </c:pt>
                <c:pt idx="4">
                  <c:v>1.2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13161D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Hours</c:v>
                </c:pt>
              </c:strCache>
            </c:strRef>
          </c:tx>
          <c:spPr>
            <a:solidFill>
              <a:srgbClr val="C9A84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E8EAF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2024/0512-LIT</c:v>
                  </c:pt>
                  <c:pt idx="1">
                    <c:v>2024/0888-LIT</c:v>
                  </c:pt>
                  <c:pt idx="2">
                    <c:v>2025/0103-COM</c:v>
                  </c:pt>
                  <c:pt idx="3">
                    <c:v>2025/0217-LAB</c:v>
                  </c:pt>
                  <c:pt idx="4">
                    <c:v>2025/0391-CON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3.6</c:v>
                </c:pt>
                <c:pt idx="1">
                  <c:v>2.4</c:v>
                </c:pt>
                <c:pt idx="2">
                  <c:v>1.8</c:v>
                </c:pt>
                <c:pt idx="3">
                  <c:v>1.2</c:v>
                </c:pt>
                <c:pt idx="4">
                  <c:v>0.8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E8EAF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829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2283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829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3161D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00000"/>
                </a:solidFill>
                <a:latin typeface="Arial"/>
              </a:rPr>
              <a:t>Hours Recovered Per Month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Hours Recovered/Month</c:v>
                </c:pt>
              </c:strCache>
            </c:strRef>
          </c:tx>
          <c:spPr>
            <a:solidFill>
              <a:srgbClr val="C9A84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Email</c:v>
                  </c:pt>
                  <c:pt idx="1">
                    <c:v>Calls</c:v>
                  </c:pt>
                  <c:pt idx="2">
                    <c:v>Meetings</c:v>
                  </c:pt>
                  <c:pt idx="3">
                    <c:v>Docs</c:v>
                  </c:pt>
                  <c:pt idx="4">
                    <c:v>Research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8.5</c:v>
                </c:pt>
                <c:pt idx="1">
                  <c:v>3.2</c:v>
                </c:pt>
                <c:pt idx="2">
                  <c:v>5.1</c:v>
                </c:pt>
                <c:pt idx="3">
                  <c:v>6.8</c:v>
                </c:pt>
                <c:pt idx="4">
                  <c:v>2.4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5143500"/>
          </a:xfrm>
          <a:prstGeom prst="rect">
            <a:avLst/>
          </a:prstGeom>
          <a:solidFill>
            <a:srgbClr val="13161D"/>
          </a:solidFill>
          <a:ln w="12700">
            <a:solidFill>
              <a:srgbClr val="2228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23360" y="0"/>
            <a:ext cx="45720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9436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C9A84C"/>
                </a:solidFill>
              </a:rPr>
              <a:t>⚖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274320" y="1572768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TimeLex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74320" y="226771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LEGAL TIME CAPTURE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3108960" cy="0"/>
          </a:xfrm>
          <a:prstGeom prst="line">
            <a:avLst/>
          </a:prstGeom>
          <a:noFill/>
          <a:ln w="12700">
            <a:solidFill>
              <a:srgbClr val="22283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290779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Kone Tshivhinda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316382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A5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Prototype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343400" y="91440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 Motsoeneng Bill Attorneys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343400" y="137160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A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Software Engineer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E8EA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Assessment 2026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4343400" y="2487168"/>
            <a:ext cx="4389120" cy="0"/>
          </a:xfrm>
          <a:prstGeom prst="line">
            <a:avLst/>
          </a:prstGeom>
          <a:noFill/>
          <a:ln w="12700">
            <a:solidFill>
              <a:srgbClr val="22283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43400" y="26974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 Auto-Capture Engine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343400" y="31089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  Draft &amp; Approve Workflow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343400" y="35204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◫  Invoice Generator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343400" y="39319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  Analytics Dashboard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343400" y="466344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Deadline: 7 May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attorneys lose billable time every single day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243584"/>
            <a:ext cx="4315968" cy="3474720"/>
          </a:xfrm>
          <a:prstGeom prst="rect">
            <a:avLst/>
          </a:prstGeom>
          <a:solidFill>
            <a:srgbClr val="13161D"/>
          </a:solidFill>
          <a:ln w="12700">
            <a:solidFill>
              <a:srgbClr val="2228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43584"/>
            <a:ext cx="47549" cy="3474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40817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Manual Time Capture Trap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865376"/>
            <a:ext cx="3886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Attorneys reconstruct their full day at end-of-day, or end-of-month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304288"/>
            <a:ext cx="3886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email, call and meeting must be manually typed into Ghost Practice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2743200"/>
            <a:ext cx="3886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is lost, misallocated, or simply forgotten entirely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3182112"/>
            <a:ext cx="3886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Inaccurate billing damages client trust and firm revenue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3621024"/>
            <a:ext cx="3886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Ghost Practice costs R33 925/month — yet input is still 100% manual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4059936"/>
            <a:ext cx="3886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Litigation attorneys handle thousands of emails per month alone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956048" y="1243584"/>
            <a:ext cx="1847088" cy="987552"/>
          </a:xfrm>
          <a:prstGeom prst="rect">
            <a:avLst/>
          </a:prstGeom>
          <a:solidFill>
            <a:srgbClr val="13161D"/>
          </a:solidFill>
          <a:ln w="12700">
            <a:solidFill>
              <a:srgbClr val="2228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65776" y="1389888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5029200" y="1865376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lost/month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(Anchané Botha)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949440" y="1243584"/>
            <a:ext cx="1847088" cy="987552"/>
          </a:xfrm>
          <a:prstGeom prst="rect">
            <a:avLst/>
          </a:prstGeom>
          <a:solidFill>
            <a:srgbClr val="13161D"/>
          </a:solidFill>
          <a:ln w="12700">
            <a:solidFill>
              <a:srgbClr val="2228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059168" y="1389888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R33k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7022592" y="1865376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cost of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Ghost Practice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956048" y="2377440"/>
            <a:ext cx="1847088" cy="987552"/>
          </a:xfrm>
          <a:prstGeom prst="rect">
            <a:avLst/>
          </a:prstGeom>
          <a:solidFill>
            <a:srgbClr val="13161D"/>
          </a:solidFill>
          <a:ln w="12700">
            <a:solidFill>
              <a:srgbClr val="2228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65776" y="2523744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B8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1000+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5029200" y="2999232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Emails/month in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litigation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949440" y="2377440"/>
            <a:ext cx="1847088" cy="987552"/>
          </a:xfrm>
          <a:prstGeom prst="rect">
            <a:avLst/>
          </a:prstGeom>
          <a:solidFill>
            <a:srgbClr val="13161D"/>
          </a:solidFill>
          <a:ln w="12700">
            <a:solidFill>
              <a:srgbClr val="2228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059168" y="2523744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~40%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7022592" y="2999232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Billable time lost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reconstruction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956048" y="3511296"/>
            <a:ext cx="3840480" cy="1170432"/>
          </a:xfrm>
          <a:prstGeom prst="rect">
            <a:avLst/>
          </a:prstGeom>
          <a:solidFill>
            <a:srgbClr val="181C25"/>
          </a:solidFill>
          <a:ln w="12700">
            <a:solidFill>
              <a:srgbClr val="2228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38928" y="3621024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"Billing emails is extremely tedious. I lose 2–3 days a month just catching up on fees."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138928" y="429768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Anchané Botha, Survey Respondent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Survey Insights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feature maps directly to a named person's complaint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4251960" cy="1161288"/>
          </a:xfrm>
          <a:prstGeom prst="rect">
            <a:avLst/>
          </a:prstGeom>
          <a:solidFill>
            <a:srgbClr val="13161D"/>
          </a:solidFill>
          <a:ln w="12700">
            <a:solidFill>
              <a:srgbClr val="2228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34440"/>
            <a:ext cx="47549" cy="1161288"/>
          </a:xfrm>
          <a:prstGeom prst="rect">
            <a:avLst/>
          </a:prstGeom>
          <a:solidFill>
            <a:srgbClr val="5B8EF0"/>
          </a:solidFill>
          <a:ln w="12700">
            <a:solidFill>
              <a:srgbClr val="5B8E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8056" y="13075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8EF0"/>
                </a:solidFill>
              </a:rPr>
              <a:t>✉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86968" y="130759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Stephanie Chetty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86968" y="154533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Associate Partner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86968" y="1755648"/>
            <a:ext cx="3474720" cy="0"/>
          </a:xfrm>
          <a:prstGeom prst="line">
            <a:avLst/>
          </a:prstGeom>
          <a:noFill/>
          <a:ln w="6350">
            <a:solidFill>
              <a:srgbClr val="22283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" y="180136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Pain: Email billing tedious — thousands/month in litigation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86968" y="205740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8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Auto-detect emails, draft entry per email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2487168"/>
            <a:ext cx="4251960" cy="1161288"/>
          </a:xfrm>
          <a:prstGeom prst="rect">
            <a:avLst/>
          </a:prstGeom>
          <a:solidFill>
            <a:srgbClr val="13161D"/>
          </a:solidFill>
          <a:ln w="12700">
            <a:solidFill>
              <a:srgbClr val="2228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487168"/>
            <a:ext cx="47549" cy="116128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8056" y="2560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A84C"/>
                </a:solidFill>
              </a:rPr>
              <a:t>◫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86968" y="256032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Anchané Botha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86968" y="279806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Attorney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86968" y="3008376"/>
            <a:ext cx="3474720" cy="0"/>
          </a:xfrm>
          <a:prstGeom prst="line">
            <a:avLst/>
          </a:prstGeom>
          <a:noFill/>
          <a:ln w="6350">
            <a:solidFill>
              <a:srgbClr val="22283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6968" y="305409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Pain: Loses 2-3 days/month on fees, can't generate own invoices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86968" y="331012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Continuous capture + self-service invoice view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" y="3739896"/>
            <a:ext cx="4251960" cy="1161288"/>
          </a:xfrm>
          <a:prstGeom prst="rect">
            <a:avLst/>
          </a:prstGeom>
          <a:solidFill>
            <a:srgbClr val="13161D"/>
          </a:solidFill>
          <a:ln w="12700">
            <a:solidFill>
              <a:srgbClr val="2228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739896"/>
            <a:ext cx="47549" cy="1161288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8056" y="3813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CAF82"/>
                </a:solidFill>
              </a:rPr>
              <a:t>◈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86968" y="381304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Lerato Motlhabi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86968" y="405079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Paralegal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86968" y="4261104"/>
            <a:ext cx="3474720" cy="0"/>
          </a:xfrm>
          <a:prstGeom prst="line">
            <a:avLst/>
          </a:prstGeom>
          <a:noFill/>
          <a:ln w="6350">
            <a:solidFill>
              <a:srgbClr val="22283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86968" y="430682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Pain: Wants real-time tracking of hours vs monthly targets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86968" y="456285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Live dashboard with billing target progress bar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82312" y="1234440"/>
            <a:ext cx="4251960" cy="1161288"/>
          </a:xfrm>
          <a:prstGeom prst="rect">
            <a:avLst/>
          </a:prstGeom>
          <a:solidFill>
            <a:srgbClr val="13161D"/>
          </a:solidFill>
          <a:ln w="12700">
            <a:solidFill>
              <a:srgbClr val="2228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82312" y="1234440"/>
            <a:ext cx="47549" cy="116128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10328" y="13075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A84C"/>
                </a:solidFill>
              </a:rPr>
              <a:t>⏰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349240" y="130759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Johan Biggs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49240" y="154533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349240" y="1755648"/>
            <a:ext cx="3474720" cy="0"/>
          </a:xfrm>
          <a:prstGeom prst="line">
            <a:avLst/>
          </a:prstGeom>
          <a:noFill/>
          <a:ln w="6350">
            <a:solidFill>
              <a:srgbClr val="22283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49240" y="180136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Pain: System should remind attorneys to post fees daily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349240" y="205740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In-app idle reminders + real-time stats panel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782312" y="2487168"/>
            <a:ext cx="4251960" cy="1161288"/>
          </a:xfrm>
          <a:prstGeom prst="rect">
            <a:avLst/>
          </a:prstGeom>
          <a:solidFill>
            <a:srgbClr val="13161D"/>
          </a:solidFill>
          <a:ln w="12700">
            <a:solidFill>
              <a:srgbClr val="2228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82312" y="2487168"/>
            <a:ext cx="47549" cy="1161288"/>
          </a:xfrm>
          <a:prstGeom prst="rect">
            <a:avLst/>
          </a:prstGeom>
          <a:solidFill>
            <a:srgbClr val="5B8EF0"/>
          </a:solidFill>
          <a:ln w="12700">
            <a:solidFill>
              <a:srgbClr val="5B8E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10328" y="2560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8EF0"/>
                </a:solidFill>
              </a:rPr>
              <a:t>◎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5349240" y="256032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Noluthando Matshata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349240" y="279806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Attorney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349240" y="3008376"/>
            <a:ext cx="3474720" cy="0"/>
          </a:xfrm>
          <a:prstGeom prst="line">
            <a:avLst/>
          </a:prstGeom>
          <a:noFill/>
          <a:ln w="6350">
            <a:solidFill>
              <a:srgbClr val="22283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49240" y="305409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Pain: Duplicate effort — captured once, then again for billing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349240" y="331012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8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One-click approval replaces full manual re-entry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782312" y="3739896"/>
            <a:ext cx="4251960" cy="1161288"/>
          </a:xfrm>
          <a:prstGeom prst="rect">
            <a:avLst/>
          </a:prstGeom>
          <a:solidFill>
            <a:srgbClr val="13161D"/>
          </a:solidFill>
          <a:ln w="12700">
            <a:solidFill>
              <a:srgbClr val="2228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782312" y="3739896"/>
            <a:ext cx="47549" cy="1161288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10328" y="3813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CAF82"/>
                </a:solidFill>
              </a:rPr>
              <a:t>★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5349240" y="381304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Tony Tshivahse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349240" y="405079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349240" y="4261104"/>
            <a:ext cx="3474720" cy="0"/>
          </a:xfrm>
          <a:prstGeom prst="line">
            <a:avLst/>
          </a:prstGeom>
          <a:noFill/>
          <a:ln w="6350">
            <a:solidFill>
              <a:srgbClr val="22283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349240" y="430682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Pain: Ghost Practice is not user friendly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349240" y="456285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Clean UI, keyboard shortcuts, review not retype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3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1 — Existing Tools Research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evaluation: strengths, weaknesses &amp; applicability to MB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207008"/>
            <a:ext cx="1463040" cy="329184"/>
          </a:xfrm>
          <a:prstGeom prst="rect">
            <a:avLst/>
          </a:prstGeom>
          <a:solidFill>
            <a:srgbClr val="1E2335"/>
          </a:solidFill>
          <a:ln w="12700">
            <a:solidFill>
              <a:srgbClr val="1E23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3192" y="120700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783080" y="1207008"/>
            <a:ext cx="2606040" cy="329184"/>
          </a:xfrm>
          <a:prstGeom prst="rect">
            <a:avLst/>
          </a:prstGeom>
          <a:solidFill>
            <a:srgbClr val="1E2335"/>
          </a:solidFill>
          <a:ln w="12700">
            <a:solidFill>
              <a:srgbClr val="1E23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56232" y="1207008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0" y="1207008"/>
            <a:ext cx="2606040" cy="329184"/>
          </a:xfrm>
          <a:prstGeom prst="rect">
            <a:avLst/>
          </a:prstGeom>
          <a:solidFill>
            <a:srgbClr val="1E2335"/>
          </a:solidFill>
          <a:ln w="12700">
            <a:solidFill>
              <a:srgbClr val="1E23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62272" y="1207008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995160" y="1207008"/>
            <a:ext cx="822960" cy="329184"/>
          </a:xfrm>
          <a:prstGeom prst="rect">
            <a:avLst/>
          </a:prstGeom>
          <a:solidFill>
            <a:srgbClr val="1E2335"/>
          </a:solidFill>
          <a:ln w="12700">
            <a:solidFill>
              <a:srgbClr val="1E23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68312" y="1207008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1536192"/>
            <a:ext cx="14630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783080" y="1536192"/>
            <a:ext cx="26060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89120" y="1536192"/>
            <a:ext cx="26060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95160" y="1536192"/>
            <a:ext cx="82296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3192" y="1536192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 Track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856232" y="1536192"/>
            <a:ext cx="2514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intuitive UI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462272" y="1536192"/>
            <a:ext cx="2514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legal integrations, no matter system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104888" y="1627632"/>
            <a:ext cx="594360" cy="310896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04888" y="1627632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2066544"/>
            <a:ext cx="1463040" cy="493776"/>
          </a:xfrm>
          <a:prstGeom prst="rect">
            <a:avLst/>
          </a:prstGeom>
          <a:solidFill>
            <a:srgbClr val="F4F6F9"/>
          </a:solidFill>
          <a:ln w="6350">
            <a:solidFill>
              <a:srgbClr val="D8DC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783080" y="2066544"/>
            <a:ext cx="2606040" cy="493776"/>
          </a:xfrm>
          <a:prstGeom prst="rect">
            <a:avLst/>
          </a:prstGeom>
          <a:solidFill>
            <a:srgbClr val="F4F6F9"/>
          </a:solidFill>
          <a:ln w="6350">
            <a:solidFill>
              <a:srgbClr val="D8DC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89120" y="2066544"/>
            <a:ext cx="2606040" cy="493776"/>
          </a:xfrm>
          <a:prstGeom prst="rect">
            <a:avLst/>
          </a:prstGeom>
          <a:solidFill>
            <a:srgbClr val="F4F6F9"/>
          </a:solidFill>
          <a:ln w="6350">
            <a:solidFill>
              <a:srgbClr val="D8DC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95160" y="2066544"/>
            <a:ext cx="822960" cy="493776"/>
          </a:xfrm>
          <a:prstGeom prst="rect">
            <a:avLst/>
          </a:prstGeom>
          <a:solidFill>
            <a:srgbClr val="F4F6F9"/>
          </a:solidFill>
          <a:ln w="6350">
            <a:solidFill>
              <a:srgbClr val="D8DC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93192" y="2066544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Clio Manage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856232" y="2066544"/>
            <a:ext cx="2514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legal PMS, time + billing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462272" y="2066544"/>
            <a:ext cx="2514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Expensive, not GP-integrated, overseas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104888" y="2157984"/>
            <a:ext cx="594360" cy="310896"/>
          </a:xfrm>
          <a:prstGeom prst="rect">
            <a:avLst/>
          </a:prstGeom>
          <a:solidFill>
            <a:srgbClr val="E08A3C"/>
          </a:solidFill>
          <a:ln w="12700">
            <a:solidFill>
              <a:srgbClr val="E08A3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04888" y="2157984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0040" y="2596896"/>
            <a:ext cx="14630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783080" y="2596896"/>
            <a:ext cx="26060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389120" y="2596896"/>
            <a:ext cx="26060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995160" y="2596896"/>
            <a:ext cx="82296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93192" y="2596896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TimeSolv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856232" y="2596896"/>
            <a:ext cx="2514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Legal-specific time tracking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462272" y="2596896"/>
            <a:ext cx="2514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US-focused, no SA GP integration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104888" y="2688336"/>
            <a:ext cx="594360" cy="310896"/>
          </a:xfrm>
          <a:prstGeom prst="rect">
            <a:avLst/>
          </a:prstGeom>
          <a:solidFill>
            <a:srgbClr val="E08A3C"/>
          </a:solidFill>
          <a:ln w="12700">
            <a:solidFill>
              <a:srgbClr val="E08A3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104888" y="2688336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20040" y="3127248"/>
            <a:ext cx="1463040" cy="493776"/>
          </a:xfrm>
          <a:prstGeom prst="rect">
            <a:avLst/>
          </a:prstGeom>
          <a:solidFill>
            <a:srgbClr val="F4F6F9"/>
          </a:solidFill>
          <a:ln w="6350">
            <a:solidFill>
              <a:srgbClr val="D8DCE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783080" y="3127248"/>
            <a:ext cx="2606040" cy="493776"/>
          </a:xfrm>
          <a:prstGeom prst="rect">
            <a:avLst/>
          </a:prstGeom>
          <a:solidFill>
            <a:srgbClr val="F4F6F9"/>
          </a:solidFill>
          <a:ln w="6350">
            <a:solidFill>
              <a:srgbClr val="D8DCE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389120" y="3127248"/>
            <a:ext cx="2606040" cy="493776"/>
          </a:xfrm>
          <a:prstGeom prst="rect">
            <a:avLst/>
          </a:prstGeom>
          <a:solidFill>
            <a:srgbClr val="F4F6F9"/>
          </a:solidFill>
          <a:ln w="6350">
            <a:solidFill>
              <a:srgbClr val="D8DCE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995160" y="3127248"/>
            <a:ext cx="822960" cy="493776"/>
          </a:xfrm>
          <a:prstGeom prst="rect">
            <a:avLst/>
          </a:prstGeom>
          <a:solidFill>
            <a:srgbClr val="F4F6F9"/>
          </a:solidFill>
          <a:ln w="6350">
            <a:solidFill>
              <a:srgbClr val="D8DC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93192" y="3127248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Harvest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856232" y="3127248"/>
            <a:ext cx="2514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UX, Outlook add-in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462272" y="3127248"/>
            <a:ext cx="2514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Generic, no matter classification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104888" y="3218688"/>
            <a:ext cx="594360" cy="310896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104888" y="3218688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20040" y="3657600"/>
            <a:ext cx="14630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783080" y="3657600"/>
            <a:ext cx="26060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389120" y="3657600"/>
            <a:ext cx="26060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995160" y="3657600"/>
            <a:ext cx="82296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93192" y="3657600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Ghost Practice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1856232" y="3657600"/>
            <a:ext cx="2514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MB integration, in use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4462272" y="3657600"/>
            <a:ext cx="2514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Purely manual — zero auto-capture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7104888" y="3749040"/>
            <a:ext cx="594360" cy="310896"/>
          </a:xfrm>
          <a:prstGeom prst="rect">
            <a:avLst/>
          </a:prstGeom>
          <a:solidFill>
            <a:srgbClr val="5B8EF0"/>
          </a:solidFill>
          <a:ln w="12700">
            <a:solidFill>
              <a:srgbClr val="5B8E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104888" y="3749040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320040" y="4187952"/>
            <a:ext cx="1463040" cy="493776"/>
          </a:xfrm>
          <a:prstGeom prst="rect">
            <a:avLst/>
          </a:prstGeom>
          <a:solidFill>
            <a:srgbClr val="EAF7F1"/>
          </a:solidFill>
          <a:ln w="6350">
            <a:solidFill>
              <a:srgbClr val="D8DCE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783080" y="4187952"/>
            <a:ext cx="2606040" cy="493776"/>
          </a:xfrm>
          <a:prstGeom prst="rect">
            <a:avLst/>
          </a:prstGeom>
          <a:solidFill>
            <a:srgbClr val="EAF7F1"/>
          </a:solidFill>
          <a:ln w="6350">
            <a:solidFill>
              <a:srgbClr val="D8DCE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389120" y="4187952"/>
            <a:ext cx="2606040" cy="493776"/>
          </a:xfrm>
          <a:prstGeom prst="rect">
            <a:avLst/>
          </a:prstGeom>
          <a:solidFill>
            <a:srgbClr val="EAF7F1"/>
          </a:solidFill>
          <a:ln w="6350">
            <a:solidFill>
              <a:srgbClr val="D8DCE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995160" y="4187952"/>
            <a:ext cx="822960" cy="493776"/>
          </a:xfrm>
          <a:prstGeom prst="rect">
            <a:avLst/>
          </a:prstGeom>
          <a:solidFill>
            <a:srgbClr val="EAF7F1"/>
          </a:solidFill>
          <a:ln w="6350">
            <a:solidFill>
              <a:srgbClr val="D8DCE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93192" y="4187952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TimeLex (ours)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1856232" y="4187952"/>
            <a:ext cx="2514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Auto-capture + GP integration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4462272" y="4187952"/>
            <a:ext cx="2514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— needs production build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7104888" y="4279392"/>
            <a:ext cx="594360" cy="310896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104888" y="4279392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320040" y="4754880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A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No existing tool auto-captures activity AND integrates natively with Ghost Practice. That is exactly the gap TimeLex fills.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2 — Proposed Solution: TimeLex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→ classify → draft → approve → bill. Zero re-typing.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1481328" cy="2286000"/>
          </a:xfrm>
          <a:prstGeom prst="rect">
            <a:avLst/>
          </a:prstGeom>
          <a:solidFill>
            <a:srgbClr val="13161D"/>
          </a:solidFill>
          <a:ln w="19050">
            <a:solidFill>
              <a:srgbClr val="5B8E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34440"/>
            <a:ext cx="1481328" cy="100584"/>
          </a:xfrm>
          <a:prstGeom prst="rect">
            <a:avLst/>
          </a:prstGeom>
          <a:solidFill>
            <a:srgbClr val="5B8EF0"/>
          </a:solidFill>
          <a:ln w="12700">
            <a:solidFill>
              <a:srgbClr val="5B8E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335024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8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627632"/>
            <a:ext cx="14813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5B8EF0"/>
                </a:solidFill>
              </a:rPr>
              <a:t>◉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74904" y="213969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Detection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93192" y="2450592"/>
            <a:ext cx="13350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Outlook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/ Teams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801368" y="2377440"/>
            <a:ext cx="100584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60220" y="226771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A84C"/>
                </a:solidFill>
              </a:rPr>
              <a:t>›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901952" y="1234440"/>
            <a:ext cx="1481328" cy="2286000"/>
          </a:xfrm>
          <a:prstGeom prst="rect">
            <a:avLst/>
          </a:prstGeom>
          <a:solidFill>
            <a:srgbClr val="13161D"/>
          </a:solidFill>
          <a:ln w="1905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901952" y="1234440"/>
            <a:ext cx="1481328" cy="10058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01952" y="1335024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901952" y="1627632"/>
            <a:ext cx="14813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9A84C"/>
                </a:solidFill>
              </a:rPr>
              <a:t>◎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956816" y="213969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Classification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975104" y="2450592"/>
            <a:ext cx="13350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classifies type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predicts matter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383280" y="2377440"/>
            <a:ext cx="100584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42132" y="226771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A84C"/>
                </a:solidFill>
              </a:rPr>
              <a:t>›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83864" y="1234440"/>
            <a:ext cx="1481328" cy="2286000"/>
          </a:xfrm>
          <a:prstGeom prst="rect">
            <a:avLst/>
          </a:prstGeom>
          <a:solidFill>
            <a:srgbClr val="13161D"/>
          </a:solidFill>
          <a:ln w="19050">
            <a:solidFill>
              <a:srgbClr val="E08A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483864" y="1234440"/>
            <a:ext cx="1481328" cy="100584"/>
          </a:xfrm>
          <a:prstGeom prst="rect">
            <a:avLst/>
          </a:prstGeom>
          <a:solidFill>
            <a:srgbClr val="E08A3C"/>
          </a:solidFill>
          <a:ln w="12700">
            <a:solidFill>
              <a:srgbClr val="E08A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83864" y="1335024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8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483864" y="1627632"/>
            <a:ext cx="14813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08A3C"/>
                </a:solidFill>
              </a:rPr>
              <a:t>◈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3538728" y="213969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Generation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557016" y="2450592"/>
            <a:ext cx="13350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entry created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narration + units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965192" y="2377440"/>
            <a:ext cx="100584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24044" y="226771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A84C"/>
                </a:solidFill>
              </a:rPr>
              <a:t>›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065776" y="1234440"/>
            <a:ext cx="1481328" cy="2286000"/>
          </a:xfrm>
          <a:prstGeom prst="rect">
            <a:avLst/>
          </a:prstGeom>
          <a:solidFill>
            <a:srgbClr val="13161D"/>
          </a:solidFill>
          <a:ln w="19050">
            <a:solidFill>
              <a:srgbClr val="4CAF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065776" y="1234440"/>
            <a:ext cx="1481328" cy="100584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65776" y="1335024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65776" y="1627632"/>
            <a:ext cx="14813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4CAF82"/>
                </a:solidFill>
              </a:rPr>
              <a:t>✓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5120640" y="213969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138928" y="2450592"/>
            <a:ext cx="13350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Attorney approves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click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547104" y="2377440"/>
            <a:ext cx="100584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05956" y="226771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A84C"/>
                </a:solidFill>
              </a:rPr>
              <a:t>›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647688" y="1234440"/>
            <a:ext cx="1481328" cy="2286000"/>
          </a:xfrm>
          <a:prstGeom prst="rect">
            <a:avLst/>
          </a:prstGeom>
          <a:solidFill>
            <a:srgbClr val="13161D"/>
          </a:solidFill>
          <a:ln w="1905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647688" y="1234440"/>
            <a:ext cx="1481328" cy="10058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47688" y="1335024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647688" y="1627632"/>
            <a:ext cx="14813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9A84C"/>
                </a:solidFill>
              </a:rPr>
              <a:t>◫</a:t>
            </a:r>
            <a:endParaRPr lang="en-US" sz="2800" dirty="0"/>
          </a:p>
        </p:txBody>
      </p:sp>
      <p:sp>
        <p:nvSpPr>
          <p:cNvPr id="41" name="Text 39"/>
          <p:cNvSpPr/>
          <p:nvPr/>
        </p:nvSpPr>
        <p:spPr>
          <a:xfrm>
            <a:off x="6702552" y="213969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Output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720840" y="2450592"/>
            <a:ext cx="13350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 sync +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output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20040" y="3694176"/>
            <a:ext cx="2066544" cy="1188720"/>
          </a:xfrm>
          <a:prstGeom prst="rect">
            <a:avLst/>
          </a:prstGeom>
          <a:solidFill>
            <a:srgbClr val="13161D"/>
          </a:solidFill>
          <a:ln w="12700">
            <a:solidFill>
              <a:srgbClr val="2228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448056" y="3785616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re-typing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48056" y="4078224"/>
            <a:ext cx="18105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Attorney approves, never re-enters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496312" y="3694176"/>
            <a:ext cx="2066544" cy="1188720"/>
          </a:xfrm>
          <a:prstGeom prst="rect">
            <a:avLst/>
          </a:prstGeom>
          <a:solidFill>
            <a:srgbClr val="13161D"/>
          </a:solidFill>
          <a:ln w="12700">
            <a:solidFill>
              <a:srgbClr val="2228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2624328" y="3785616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6-min accuracy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2624328" y="4078224"/>
            <a:ext cx="18105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legal billing precision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672584" y="3694176"/>
            <a:ext cx="2066544" cy="1188720"/>
          </a:xfrm>
          <a:prstGeom prst="rect">
            <a:avLst/>
          </a:prstGeom>
          <a:solidFill>
            <a:srgbClr val="13161D"/>
          </a:solidFill>
          <a:ln w="12700">
            <a:solidFill>
              <a:srgbClr val="2228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4800600" y="3785616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GP-ready output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800600" y="4078224"/>
            <a:ext cx="18105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for Ghost Practice API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848856" y="3694176"/>
            <a:ext cx="2066544" cy="1188720"/>
          </a:xfrm>
          <a:prstGeom prst="rect">
            <a:avLst/>
          </a:prstGeom>
          <a:solidFill>
            <a:srgbClr val="13161D"/>
          </a:solidFill>
          <a:ln w="12700">
            <a:solidFill>
              <a:srgbClr val="2228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6976872" y="3785616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invoices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976872" y="4078224"/>
            <a:ext cx="18105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secretary required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1 — Auto-Capture Engine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capture-engine.js · 7 integration classes · simulates real-time activity detection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207008"/>
            <a:ext cx="1572768" cy="347472"/>
          </a:xfrm>
          <a:prstGeom prst="rect">
            <a:avLst/>
          </a:prstGeom>
          <a:solidFill>
            <a:srgbClr val="0D2E1F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0624" y="120700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  Outlook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084832" y="1207008"/>
            <a:ext cx="1572768" cy="347472"/>
          </a:xfrm>
          <a:prstGeom prst="rect">
            <a:avLst/>
          </a:prstGeom>
          <a:solidFill>
            <a:srgbClr val="0D2E1F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39696" y="120700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Calendar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803904" y="1207008"/>
            <a:ext cx="1572768" cy="347472"/>
          </a:xfrm>
          <a:prstGeom prst="rect">
            <a:avLst/>
          </a:prstGeom>
          <a:solidFill>
            <a:srgbClr val="0D2E1F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58768" y="120700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Word / Docs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522976" y="1207008"/>
            <a:ext cx="1572768" cy="347472"/>
          </a:xfrm>
          <a:prstGeom prst="rect">
            <a:avLst/>
          </a:prstGeom>
          <a:solidFill>
            <a:srgbClr val="13161D"/>
          </a:solidFill>
          <a:ln w="12700">
            <a:solidFill>
              <a:srgbClr val="22283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77840" y="120700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  Teams / Calls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242048" y="1207008"/>
            <a:ext cx="1572768" cy="347472"/>
          </a:xfrm>
          <a:prstGeom prst="rect">
            <a:avLst/>
          </a:prstGeom>
          <a:solidFill>
            <a:srgbClr val="0D2E1F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96912" y="120700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Ghost Practice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1737360"/>
            <a:ext cx="4114800" cy="548640"/>
          </a:xfrm>
          <a:prstGeom prst="rect">
            <a:avLst/>
          </a:prstGeom>
          <a:solidFill>
            <a:srgbClr val="13161D"/>
          </a:solidFill>
          <a:ln w="12700">
            <a:solidFill>
              <a:srgbClr val="2228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1737360"/>
            <a:ext cx="47549" cy="548640"/>
          </a:xfrm>
          <a:prstGeom prst="rect">
            <a:avLst/>
          </a:prstGeom>
          <a:solidFill>
            <a:srgbClr val="5B8EF0"/>
          </a:solidFill>
          <a:ln w="12700">
            <a:solidFill>
              <a:srgbClr val="5B8E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2064" y="1828800"/>
            <a:ext cx="347472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5B8E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" y="1828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8EF0"/>
                </a:solidFill>
              </a:rPr>
              <a:t>✉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0120" y="180136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203911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Subject, sender, thread detected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73552" y="1828800"/>
            <a:ext cx="1005840" cy="329184"/>
          </a:xfrm>
          <a:prstGeom prst="rect">
            <a:avLst/>
          </a:prstGeom>
          <a:solidFill>
            <a:srgbClr val="000000"/>
          </a:solidFill>
          <a:ln w="6350">
            <a:solidFill>
              <a:srgbClr val="5B8E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73552" y="182880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8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units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" y="2340864"/>
            <a:ext cx="4114800" cy="548640"/>
          </a:xfrm>
          <a:prstGeom prst="rect">
            <a:avLst/>
          </a:prstGeom>
          <a:solidFill>
            <a:srgbClr val="13161D"/>
          </a:solidFill>
          <a:ln w="12700">
            <a:solidFill>
              <a:srgbClr val="2228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2340864"/>
            <a:ext cx="47549" cy="548640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2064" y="2432304"/>
            <a:ext cx="347472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" y="24323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CAF82"/>
                </a:solidFill>
              </a:rPr>
              <a:t>📅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60120" y="240487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60120" y="264261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from calendar event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73552" y="2432304"/>
            <a:ext cx="1005840" cy="329184"/>
          </a:xfrm>
          <a:prstGeom prst="rect">
            <a:avLst/>
          </a:prstGeom>
          <a:solidFill>
            <a:srgbClr val="000000"/>
          </a:solidFill>
          <a:ln w="6350">
            <a:solidFill>
              <a:srgbClr val="4CAF8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73552" y="243230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 units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65760" y="2944368"/>
            <a:ext cx="4114800" cy="548640"/>
          </a:xfrm>
          <a:prstGeom prst="rect">
            <a:avLst/>
          </a:prstGeom>
          <a:solidFill>
            <a:srgbClr val="13161D"/>
          </a:solidFill>
          <a:ln w="12700">
            <a:solidFill>
              <a:srgbClr val="2228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65760" y="2944368"/>
            <a:ext cx="47549" cy="548640"/>
          </a:xfrm>
          <a:prstGeom prst="rect">
            <a:avLst/>
          </a:prstGeom>
          <a:solidFill>
            <a:srgbClr val="5B8EF0"/>
          </a:solidFill>
          <a:ln w="12700">
            <a:solidFill>
              <a:srgbClr val="5B8E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12064" y="3035808"/>
            <a:ext cx="347472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5B8E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2064" y="30358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8EF0"/>
                </a:solidFill>
              </a:rPr>
              <a:t>📄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60120" y="300837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60120" y="32461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open/edit time tracked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273552" y="3035808"/>
            <a:ext cx="1005840" cy="329184"/>
          </a:xfrm>
          <a:prstGeom prst="rect">
            <a:avLst/>
          </a:prstGeom>
          <a:solidFill>
            <a:srgbClr val="000000"/>
          </a:solidFill>
          <a:ln w="6350">
            <a:solidFill>
              <a:srgbClr val="5B8E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73552" y="303580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8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3–8 units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65760" y="3547872"/>
            <a:ext cx="4114800" cy="548640"/>
          </a:xfrm>
          <a:prstGeom prst="rect">
            <a:avLst/>
          </a:prstGeom>
          <a:solidFill>
            <a:srgbClr val="13161D"/>
          </a:solidFill>
          <a:ln w="12700">
            <a:solidFill>
              <a:srgbClr val="2228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65760" y="3547872"/>
            <a:ext cx="47549" cy="548640"/>
          </a:xfrm>
          <a:prstGeom prst="rect">
            <a:avLst/>
          </a:prstGeom>
          <a:solidFill>
            <a:srgbClr val="E08A3C"/>
          </a:solidFill>
          <a:ln w="12700">
            <a:solidFill>
              <a:srgbClr val="E08A3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12064" y="3639312"/>
            <a:ext cx="347472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E08A3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2064" y="36393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8A3C"/>
                </a:solidFill>
              </a:rPr>
              <a:t>📞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960120" y="361188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960120" y="384962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duration from Teams/Zoom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273552" y="3639312"/>
            <a:ext cx="1005840" cy="329184"/>
          </a:xfrm>
          <a:prstGeom prst="rect">
            <a:avLst/>
          </a:prstGeom>
          <a:solidFill>
            <a:srgbClr val="000000"/>
          </a:solidFill>
          <a:ln w="6350">
            <a:solidFill>
              <a:srgbClr val="E08A3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73552" y="363931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08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1–3 units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65760" y="4151376"/>
            <a:ext cx="4114800" cy="548640"/>
          </a:xfrm>
          <a:prstGeom prst="rect">
            <a:avLst/>
          </a:prstGeom>
          <a:solidFill>
            <a:srgbClr val="13161D"/>
          </a:solidFill>
          <a:ln w="12700">
            <a:solidFill>
              <a:srgbClr val="2228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365760" y="4151376"/>
            <a:ext cx="47549" cy="5486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12064" y="4242816"/>
            <a:ext cx="347472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12064" y="42428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A84C"/>
                </a:solidFill>
              </a:rPr>
              <a:t>🔍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960120" y="421538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960120" y="44531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activity monitored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3273552" y="4242816"/>
            <a:ext cx="1005840" cy="329184"/>
          </a:xfrm>
          <a:prstGeom prst="rect">
            <a:avLst/>
          </a:prstGeom>
          <a:solidFill>
            <a:srgbClr val="000000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273552" y="424281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3–6 units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709160" y="1225296"/>
            <a:ext cx="4114800" cy="3566160"/>
          </a:xfrm>
          <a:prstGeom prst="rect">
            <a:avLst/>
          </a:prstGeom>
          <a:solidFill>
            <a:srgbClr val="13161D"/>
          </a:solidFill>
          <a:ln w="12700">
            <a:solidFill>
              <a:srgbClr val="2228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4892040" y="133502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Engine Works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4892040" y="1828800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Poll integrations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4892040" y="2066544"/>
            <a:ext cx="3703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source polled every 8–15 sec (prototype). Production uses real-time Microsoft Graph webhooks — entry appears the moment an activity ends.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4892040" y="2560320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Classify activity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4892040" y="2798064"/>
            <a:ext cx="3703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determined by source. Matter matched via keyword rules (e.g. 'Nkosi' → 2024/0512-LIT) and title pattern extraction.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4892040" y="3291840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Calculate units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4892040" y="3529584"/>
            <a:ext cx="3703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converted to 6-minute billing increments, always rounded up — the legal industry standard.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4892040" y="4023360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Generate narration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4892040" y="4261104"/>
            <a:ext cx="3703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Narration auto-written from metadata. Attorney corrects if needed — never re-types from scratch.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2 — Draft &amp; Approve Workflow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UX shift: attorney reviews, never re-types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3977640" cy="3566160"/>
          </a:xfrm>
          <a:prstGeom prst="rect">
            <a:avLst/>
          </a:prstGeom>
          <a:solidFill>
            <a:srgbClr val="13161D"/>
          </a:solidFill>
          <a:ln w="12700">
            <a:solidFill>
              <a:srgbClr val="2228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34440"/>
            <a:ext cx="3977640" cy="329184"/>
          </a:xfrm>
          <a:prstGeom prst="rect">
            <a:avLst/>
          </a:prstGeom>
          <a:solidFill>
            <a:srgbClr val="000000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34440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BEFORE  (Ghost Practice today)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682496"/>
            <a:ext cx="3611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0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Attorney finishes a full day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039112"/>
            <a:ext cx="3611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0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Ghost Practice → New Time Entry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2395728"/>
            <a:ext cx="3611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0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Tries to remember: what did I do?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2752344"/>
            <a:ext cx="3611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0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narration from memory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3108960"/>
            <a:ext cx="3611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0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up matter number manually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3465576"/>
            <a:ext cx="3611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0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Calculates time in 6-min units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3822192"/>
            <a:ext cx="3611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0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Repeats for EVERY email, call, meeting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2920" y="4178808"/>
            <a:ext cx="3611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0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1–3 hours after a long day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0" y="1234440"/>
            <a:ext cx="4251960" cy="3566160"/>
          </a:xfrm>
          <a:prstGeom prst="rect">
            <a:avLst/>
          </a:prstGeom>
          <a:solidFill>
            <a:srgbClr val="13161D"/>
          </a:solidFill>
          <a:ln w="12700">
            <a:solidFill>
              <a:srgbClr val="2228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0" y="1234440"/>
            <a:ext cx="4251960" cy="329184"/>
          </a:xfrm>
          <a:prstGeom prst="rect">
            <a:avLst/>
          </a:prstGeom>
          <a:solidFill>
            <a:srgbClr val="000000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123444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AFTER  (TimeLex)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36592" y="1682496"/>
            <a:ext cx="3840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0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TimeLex detects every activity automatically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36592" y="2039112"/>
            <a:ext cx="3840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0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entry created instantly — narration written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736592" y="2395728"/>
            <a:ext cx="3840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0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Attorney sees inbox of pending drafts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736592" y="2752344"/>
            <a:ext cx="3840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0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Assigns matter number (autocomplete list)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736592" y="3108960"/>
            <a:ext cx="3840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0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Clicks ✓ Approve — done in one click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736592" y="3465576"/>
            <a:ext cx="3840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0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adjusts narration in-line if needed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736592" y="3822192"/>
            <a:ext cx="3840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0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"Approve All" clears the full day at once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736592" y="4178808"/>
            <a:ext cx="3840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0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process: under 5 minutes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206240" y="28346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9A84C"/>
                </a:solidFill>
              </a:rPr>
              <a:t>→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3 — Live Dashboard &amp; Target Tracking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Requested by Lerato Motlhabi, Johan Biggs &amp; Anchané Botha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2066544" cy="1078992"/>
          </a:xfrm>
          <a:prstGeom prst="rect">
            <a:avLst/>
          </a:prstGeom>
          <a:solidFill>
            <a:srgbClr val="13161D"/>
          </a:solidFill>
          <a:ln w="12700">
            <a:solidFill>
              <a:srgbClr val="2228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29768" y="131673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Billable Hours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29768" y="151790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 h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29768" y="197510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units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96312" y="1234440"/>
            <a:ext cx="2066544" cy="1078992"/>
          </a:xfrm>
          <a:prstGeom prst="rect">
            <a:avLst/>
          </a:prstGeom>
          <a:solidFill>
            <a:srgbClr val="13161D"/>
          </a:solidFill>
          <a:ln w="12700">
            <a:solidFill>
              <a:srgbClr val="2228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06040" y="131673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to Date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606040" y="151790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50.6 h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606040" y="197510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150 h target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72584" y="1234440"/>
            <a:ext cx="2066544" cy="1078992"/>
          </a:xfrm>
          <a:prstGeom prst="rect">
            <a:avLst/>
          </a:prstGeom>
          <a:solidFill>
            <a:srgbClr val="13161D"/>
          </a:solidFill>
          <a:ln w="12700">
            <a:solidFill>
              <a:srgbClr val="2228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82312" y="131673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Review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82312" y="151790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782312" y="197510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entries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848856" y="1234440"/>
            <a:ext cx="2066544" cy="1078992"/>
          </a:xfrm>
          <a:prstGeom prst="rect">
            <a:avLst/>
          </a:prstGeom>
          <a:solidFill>
            <a:srgbClr val="13161D"/>
          </a:solidFill>
          <a:ln w="12700">
            <a:solidFill>
              <a:srgbClr val="2228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958584" y="131673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Matters Active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958584" y="151790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B8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958584" y="197510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" y="2487168"/>
            <a:ext cx="8503920" cy="841248"/>
          </a:xfrm>
          <a:prstGeom prst="rect">
            <a:avLst/>
          </a:prstGeom>
          <a:solidFill>
            <a:srgbClr val="13161D"/>
          </a:solidFill>
          <a:ln w="12700">
            <a:solidFill>
              <a:srgbClr val="2228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02920" y="256032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Billing Target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156448" y="256032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33.7%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02920" y="2889504"/>
            <a:ext cx="8092440" cy="201168"/>
          </a:xfrm>
          <a:prstGeom prst="rect">
            <a:avLst/>
          </a:prstGeom>
          <a:solidFill>
            <a:srgbClr val="222836"/>
          </a:solidFill>
          <a:ln w="12700">
            <a:solidFill>
              <a:srgbClr val="22283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2889504"/>
            <a:ext cx="2727152" cy="2011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12724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50.6 h billed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486400" y="3127248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h target  ·  99.4 h remaining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0040" y="3511296"/>
            <a:ext cx="4224528" cy="1389888"/>
          </a:xfrm>
          <a:prstGeom prst="rect">
            <a:avLst/>
          </a:prstGeom>
          <a:solidFill>
            <a:srgbClr val="13161D"/>
          </a:solidFill>
          <a:ln w="12700">
            <a:solidFill>
              <a:srgbClr val="2228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02920" y="358444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Activity Feed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11480" y="3913632"/>
            <a:ext cx="4005072" cy="402336"/>
          </a:xfrm>
          <a:prstGeom prst="rect">
            <a:avLst/>
          </a:prstGeom>
          <a:solidFill>
            <a:srgbClr val="181C25"/>
          </a:solidFill>
          <a:ln w="6350">
            <a:solidFill>
              <a:srgbClr val="22283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352" y="39684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8EF0"/>
                </a:solidFill>
              </a:rPr>
              <a:t>✉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86968" y="3959352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Re: Discovery — Nkosi v Absa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86968" y="4133088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· 1 unit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11480" y="4370832"/>
            <a:ext cx="4005072" cy="402336"/>
          </a:xfrm>
          <a:prstGeom prst="rect">
            <a:avLst/>
          </a:prstGeom>
          <a:solidFill>
            <a:srgbClr val="181C25"/>
          </a:solidFill>
          <a:ln w="6350">
            <a:solidFill>
              <a:srgbClr val="22283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0352" y="44256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8EF0"/>
                </a:solidFill>
              </a:rPr>
              <a:t>📄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86968" y="4416552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Drafting founding affidavit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86968" y="4590288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· 5 units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663440" y="3511296"/>
            <a:ext cx="4160520" cy="1389888"/>
          </a:xfrm>
          <a:prstGeom prst="rect">
            <a:avLst/>
          </a:prstGeom>
          <a:solidFill>
            <a:srgbClr val="13161D"/>
          </a:solidFill>
          <a:ln w="12700">
            <a:solidFill>
              <a:srgbClr val="2228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846320" y="358444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Entries  (pending review)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73168" y="3913632"/>
            <a:ext cx="3895344" cy="804672"/>
          </a:xfrm>
          <a:prstGeom prst="rect">
            <a:avLst/>
          </a:prstGeom>
          <a:solidFill>
            <a:srgbClr val="181C2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73168" y="3913632"/>
            <a:ext cx="47549" cy="80467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01184" y="398678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 EMAIL  ·  1 unit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901184" y="4206240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Attending to email: Re: Discovery — Nkosi v Absa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693408" y="4443984"/>
            <a:ext cx="822960" cy="219456"/>
          </a:xfrm>
          <a:prstGeom prst="rect">
            <a:avLst/>
          </a:prstGeom>
          <a:solidFill>
            <a:srgbClr val="000000"/>
          </a:solidFill>
          <a:ln w="6350">
            <a:solidFill>
              <a:srgbClr val="4CAF8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693408" y="444398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Approve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4 — Invoice Generator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Requested by Anchané Botha: generate pro-formas without a secretary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3291840" cy="3566160"/>
          </a:xfrm>
          <a:prstGeom prst="rect">
            <a:avLst/>
          </a:prstGeom>
          <a:solidFill>
            <a:srgbClr val="13161D"/>
          </a:solidFill>
          <a:ln w="12700">
            <a:solidFill>
              <a:srgbClr val="2228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35331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Settings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75564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A5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956816"/>
            <a:ext cx="2926080" cy="310896"/>
          </a:xfrm>
          <a:prstGeom prst="rect">
            <a:avLst/>
          </a:prstGeom>
          <a:solidFill>
            <a:srgbClr val="181C25"/>
          </a:solidFill>
          <a:ln w="12700">
            <a:solidFill>
              <a:srgbClr val="22283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95681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2024/0512-LIT — Nkosi v Absa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3957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A5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TYPE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" y="2596896"/>
            <a:ext cx="2926080" cy="310896"/>
          </a:xfrm>
          <a:prstGeom prst="rect">
            <a:avLst/>
          </a:prstGeom>
          <a:solidFill>
            <a:srgbClr val="181C25"/>
          </a:solidFill>
          <a:ln w="12700">
            <a:solidFill>
              <a:srgbClr val="22283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259689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Pro-Forma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03580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A5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RATE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02920" y="3236976"/>
            <a:ext cx="2926080" cy="310896"/>
          </a:xfrm>
          <a:prstGeom prst="rect">
            <a:avLst/>
          </a:prstGeom>
          <a:solidFill>
            <a:srgbClr val="181C25"/>
          </a:solidFill>
          <a:ln w="12700">
            <a:solidFill>
              <a:srgbClr val="22283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323697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3 500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367588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A5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VAT RATE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02920" y="3877056"/>
            <a:ext cx="2926080" cy="310896"/>
          </a:xfrm>
          <a:prstGeom prst="rect">
            <a:avLst/>
          </a:prstGeom>
          <a:solidFill>
            <a:srgbClr val="181C25"/>
          </a:solidFill>
          <a:ln w="12700">
            <a:solidFill>
              <a:srgbClr val="22283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387705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4407408"/>
            <a:ext cx="2926080" cy="32918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40740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0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Preview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794760" y="1234440"/>
            <a:ext cx="502920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931920" y="133502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0F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MOTSOENENG BILL ATTORNEYS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931920" y="159105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Houghton Estate  ·  +27 11 463 9401  ·  www.mb.co.za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6903720" y="1335024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1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PRO-FORMA INVOICE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6903720" y="149961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D0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#PF-2026-0422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886200" y="1828800"/>
            <a:ext cx="4800600" cy="0"/>
          </a:xfrm>
          <a:prstGeom prst="line">
            <a:avLst/>
          </a:prstGeom>
          <a:noFill/>
          <a:ln w="19050">
            <a:solidFill>
              <a:srgbClr val="0D0F1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31920" y="190195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TO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931920" y="208483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0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Nkosi v Absa Bank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931920" y="230428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Matter: 2024/0512-LIT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886200" y="2542032"/>
            <a:ext cx="4800600" cy="237744"/>
          </a:xfrm>
          <a:prstGeom prst="rect">
            <a:avLst/>
          </a:prstGeom>
          <a:solidFill>
            <a:srgbClr val="0D0F14"/>
          </a:solidFill>
          <a:ln w="12700">
            <a:solidFill>
              <a:srgbClr val="0D0F1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931920" y="254203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510528" y="254203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922008" y="254203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479792" y="254203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(R)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886200" y="2816352"/>
            <a:ext cx="480060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931920" y="2816352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Attending to email: RE: Settlement — Nkosi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510528" y="2816352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922008" y="2816352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479792" y="2816352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350.00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886200" y="3063240"/>
            <a:ext cx="4800600" cy="246888"/>
          </a:xfrm>
          <a:prstGeom prst="rect">
            <a:avLst/>
          </a:prstGeom>
          <a:solidFill>
            <a:srgbClr val="F4F6F9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31920" y="3063240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Drafting founding affidavit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510528" y="3063240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922008" y="3063240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7479792" y="3063240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2 100.00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3886200" y="3310128"/>
            <a:ext cx="480060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931920" y="3310128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with opposing counsel re: postponement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510528" y="3310128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922008" y="3310128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7479792" y="3310128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700.00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3886200" y="3566160"/>
            <a:ext cx="48006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784848" y="36118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Subtotal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589520" y="361188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3 150.00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784848" y="38587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VAT (15%)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7589520" y="385876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472.50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784848" y="410565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0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DUE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7589520" y="4105656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0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3 622.50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3886200" y="4663440"/>
            <a:ext cx="4800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TimeLex  ·  Entries verified and approved by fee earner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5 — Analytics Dashboard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New: visual productivity insights — hours by matter, type &amp; week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2066544" cy="960120"/>
          </a:xfrm>
          <a:prstGeom prst="rect">
            <a:avLst/>
          </a:prstGeom>
          <a:solidFill>
            <a:srgbClr val="13161D"/>
          </a:solidFill>
          <a:ln w="12700">
            <a:solidFill>
              <a:srgbClr val="2228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29768" y="131673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Billable Today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29768" y="1517904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 h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496312" y="1234440"/>
            <a:ext cx="2066544" cy="960120"/>
          </a:xfrm>
          <a:prstGeom prst="rect">
            <a:avLst/>
          </a:prstGeom>
          <a:solidFill>
            <a:srgbClr val="13161D"/>
          </a:solidFill>
          <a:ln w="12700">
            <a:solidFill>
              <a:srgbClr val="2228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06040" y="131673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Auto-Captured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606040" y="1517904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74%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4672584" y="1234440"/>
            <a:ext cx="2066544" cy="960120"/>
          </a:xfrm>
          <a:prstGeom prst="rect">
            <a:avLst/>
          </a:prstGeom>
          <a:solidFill>
            <a:srgbClr val="13161D"/>
          </a:solidFill>
          <a:ln w="12700">
            <a:solidFill>
              <a:srgbClr val="2228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82312" y="131673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Billable Value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82312" y="1517904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B8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12 600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6848856" y="1234440"/>
            <a:ext cx="2066544" cy="960120"/>
          </a:xfrm>
          <a:prstGeom prst="rect">
            <a:avLst/>
          </a:prstGeom>
          <a:solidFill>
            <a:srgbClr val="13161D"/>
          </a:solidFill>
          <a:ln w="12700">
            <a:solidFill>
              <a:srgbClr val="2228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958584" y="131673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Matter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958584" y="1517904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08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2024/0512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320040" y="2359152"/>
            <a:ext cx="4224528" cy="2578608"/>
          </a:xfrm>
          <a:prstGeom prst="rect">
            <a:avLst/>
          </a:prstGeom>
          <a:solidFill>
            <a:srgbClr val="13161D"/>
          </a:solidFill>
          <a:ln w="12700">
            <a:solidFill>
              <a:srgbClr val="2228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2920" y="245059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BY ACTIVITY TYPE</a:t>
            </a:r>
            <a:endParaRPr lang="en-US" sz="100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365760" y="2706624"/>
          <a:ext cx="411480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Shape 17"/>
          <p:cNvSpPr/>
          <p:nvPr/>
        </p:nvSpPr>
        <p:spPr>
          <a:xfrm>
            <a:off x="4663440" y="2359152"/>
            <a:ext cx="4160520" cy="2578608"/>
          </a:xfrm>
          <a:prstGeom prst="rect">
            <a:avLst/>
          </a:prstGeom>
          <a:solidFill>
            <a:srgbClr val="13161D"/>
          </a:solidFill>
          <a:ln w="12700">
            <a:solidFill>
              <a:srgbClr val="2228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4846320" y="245059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BY MATTER</a:t>
            </a:r>
            <a:endParaRPr lang="en-US" sz="1000" dirty="0"/>
          </a:p>
        </p:txBody>
      </p:sp>
      <p:graphicFrame>
        <p:nvGraphicFramePr>
          <p:cNvPr id="22" name="Chart 1" descr=""/>
          <p:cNvGraphicFramePr/>
          <p:nvPr/>
        </p:nvGraphicFramePr>
        <p:xfrm>
          <a:off x="4681728" y="2706624"/>
          <a:ext cx="4096512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3" name="Text 19"/>
          <p:cNvSpPr/>
          <p:nvPr/>
        </p:nvSpPr>
        <p:spPr>
          <a:xfrm>
            <a:off x="320040" y="4901184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includes: weekly timeline chart, matter breakdown table with billable value, CSV export — all built from approved entries.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3 — Technical Architecture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ES6+ frontend · Ghost Practice API · POPIA-compliant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6217920" cy="804672"/>
          </a:xfrm>
          <a:prstGeom prst="rect">
            <a:avLst/>
          </a:prstGeom>
          <a:solidFill>
            <a:srgbClr val="13161D"/>
          </a:solidFill>
          <a:ln w="12700">
            <a:solidFill>
              <a:srgbClr val="5B8E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34440"/>
            <a:ext cx="47549" cy="804672"/>
          </a:xfrm>
          <a:prstGeom prst="rect">
            <a:avLst/>
          </a:prstGeom>
          <a:solidFill>
            <a:srgbClr val="5B8EF0"/>
          </a:solidFill>
          <a:ln w="12700">
            <a:solidFill>
              <a:srgbClr val="5B8E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8016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8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ATTORNEY'S TOOLS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536192"/>
            <a:ext cx="1051560" cy="36576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53619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Outlook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709928" y="1536192"/>
            <a:ext cx="1051560" cy="36576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09928" y="153619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Calendar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871216" y="1536192"/>
            <a:ext cx="1051560" cy="36576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71216" y="153619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/ Docs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032504" y="1536192"/>
            <a:ext cx="1051560" cy="36576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32504" y="153619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/ Zoom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193792" y="1536192"/>
            <a:ext cx="1051560" cy="36576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93792" y="153619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29000" y="2039112"/>
            <a:ext cx="0" cy="137160"/>
          </a:xfrm>
          <a:prstGeom prst="line">
            <a:avLst/>
          </a:prstGeom>
          <a:noFill/>
          <a:ln w="19050">
            <a:solidFill>
              <a:srgbClr val="5B8E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2176272"/>
            <a:ext cx="6217920" cy="804672"/>
          </a:xfrm>
          <a:prstGeom prst="rect">
            <a:avLst/>
          </a:prstGeom>
          <a:solidFill>
            <a:srgbClr val="13161D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2176272"/>
            <a:ext cx="47549" cy="80467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22199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TIMELEX CAPTURE ENGINE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8640" y="2478024"/>
            <a:ext cx="1051560" cy="36576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2478024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classifier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1709928" y="2478024"/>
            <a:ext cx="1051560" cy="36576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709928" y="2478024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 matcher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871216" y="2478024"/>
            <a:ext cx="1051560" cy="36576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871216" y="2478024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calculator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032504" y="2478024"/>
            <a:ext cx="1051560" cy="36576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32504" y="2478024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Narration generator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5193792" y="2478024"/>
            <a:ext cx="1051560" cy="36576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93792" y="2478024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creator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429000" y="2980944"/>
            <a:ext cx="0" cy="13716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0040" y="3118104"/>
            <a:ext cx="6217920" cy="804672"/>
          </a:xfrm>
          <a:prstGeom prst="rect">
            <a:avLst/>
          </a:prstGeom>
          <a:solidFill>
            <a:srgbClr val="13161D"/>
          </a:solidFill>
          <a:ln w="12700">
            <a:solidFill>
              <a:srgbClr val="E08A3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0040" y="3118104"/>
            <a:ext cx="47549" cy="804672"/>
          </a:xfrm>
          <a:prstGeom prst="rect">
            <a:avLst/>
          </a:prstGeom>
          <a:solidFill>
            <a:srgbClr val="E08A3C"/>
          </a:solidFill>
          <a:ln w="12700">
            <a:solidFill>
              <a:srgbClr val="E08A3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316382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08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TIMELEX DASHBOARD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8640" y="3419856"/>
            <a:ext cx="1051560" cy="36576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3419856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709928" y="3419856"/>
            <a:ext cx="1051560" cy="36576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709928" y="3419856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Capture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871216" y="3419856"/>
            <a:ext cx="1051560" cy="36576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871216" y="3419856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Entries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032504" y="3419856"/>
            <a:ext cx="1051560" cy="36576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032504" y="3419856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5193792" y="3419856"/>
            <a:ext cx="1051560" cy="36576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93792" y="3419856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★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429000" y="3922776"/>
            <a:ext cx="0" cy="137160"/>
          </a:xfrm>
          <a:prstGeom prst="line">
            <a:avLst/>
          </a:prstGeom>
          <a:noFill/>
          <a:ln w="19050">
            <a:solidFill>
              <a:srgbClr val="E08A3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20040" y="4059936"/>
            <a:ext cx="6217920" cy="804672"/>
          </a:xfrm>
          <a:prstGeom prst="rect">
            <a:avLst/>
          </a:prstGeom>
          <a:solidFill>
            <a:srgbClr val="13161D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20040" y="4059936"/>
            <a:ext cx="47549" cy="804672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2920" y="410565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/ INTEGRATION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48640" y="4361688"/>
            <a:ext cx="1825752" cy="36576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48640" y="4361688"/>
            <a:ext cx="1825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Ghost Practice API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2484120" y="4361688"/>
            <a:ext cx="1825752" cy="36576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484120" y="4361688"/>
            <a:ext cx="1825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export (fallback)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4419600" y="4361688"/>
            <a:ext cx="1825752" cy="36576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419600" y="4361688"/>
            <a:ext cx="1825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Pro-forma / Tax invoices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6748272" y="1234440"/>
            <a:ext cx="2075688" cy="3630168"/>
          </a:xfrm>
          <a:prstGeom prst="rect">
            <a:avLst/>
          </a:prstGeom>
          <a:solidFill>
            <a:srgbClr val="13161D"/>
          </a:solidFill>
          <a:ln w="12700">
            <a:solidFill>
              <a:srgbClr val="2228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6903720" y="135331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6903720" y="17190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903720" y="190195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CSS · ES6+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6903720" y="220370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6903720" y="2386584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ES6 import/export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6903720" y="268833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6903720" y="2871216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vars, 6 CSS files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6903720" y="317296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6903720" y="3355848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Canvas 2D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6903720" y="36576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 API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6903720" y="3840480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/ OAuth2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6903720" y="414223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6903720" y="432511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Node.js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 Architecture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focused source files — each has one clear responsibility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4251960" cy="877824"/>
          </a:xfrm>
          <a:prstGeom prst="rect">
            <a:avLst/>
          </a:prstGeom>
          <a:solidFill>
            <a:srgbClr val="13161D"/>
          </a:solidFill>
          <a:ln w="12700">
            <a:solidFill>
              <a:srgbClr val="2228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34440"/>
            <a:ext cx="47549" cy="87782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29844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app.js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83864" y="1316736"/>
            <a:ext cx="914400" cy="20116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83864" y="131673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~420 lines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84632" y="1554480"/>
            <a:ext cx="38953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state, navigation, analytics renderer, CSV export, keyboard shortcuts, idle reminder, localStorage persistence.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2176272"/>
            <a:ext cx="4251960" cy="877824"/>
          </a:xfrm>
          <a:prstGeom prst="rect">
            <a:avLst/>
          </a:prstGeom>
          <a:solidFill>
            <a:srgbClr val="13161D"/>
          </a:solidFill>
          <a:ln w="12700">
            <a:solidFill>
              <a:srgbClr val="2228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176272"/>
            <a:ext cx="47549" cy="877824"/>
          </a:xfrm>
          <a:prstGeom prst="rect">
            <a:avLst/>
          </a:prstGeom>
          <a:solidFill>
            <a:srgbClr val="5B8EF0"/>
          </a:solidFill>
          <a:ln w="12700">
            <a:solidFill>
              <a:srgbClr val="5B8E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" y="224028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capture-engine.js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83864" y="2258568"/>
            <a:ext cx="914400" cy="20116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83864" y="22585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8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~500 lines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84632" y="2496312"/>
            <a:ext cx="38953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CaptureEngine + 7 integration classes (Outlook, Calendar, Word, Docs, Teams, Zoom, Browser). ActivityType / CaptureStatus enums.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3118104"/>
            <a:ext cx="4251960" cy="877824"/>
          </a:xfrm>
          <a:prstGeom prst="rect">
            <a:avLst/>
          </a:prstGeom>
          <a:solidFill>
            <a:srgbClr val="13161D"/>
          </a:solidFill>
          <a:ln w="12700">
            <a:solidFill>
              <a:srgbClr val="2228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118104"/>
            <a:ext cx="47549" cy="877824"/>
          </a:xfrm>
          <a:prstGeom prst="rect">
            <a:avLst/>
          </a:prstGeom>
          <a:solidFill>
            <a:srgbClr val="E08A3C"/>
          </a:solidFill>
          <a:ln w="12700">
            <a:solidFill>
              <a:srgbClr val="E08A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" y="318211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invoice-generator.js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83864" y="3200400"/>
            <a:ext cx="914400" cy="20116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83864" y="32004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08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~300 lines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84632" y="3438144"/>
            <a:ext cx="38953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InvoiceGenerator class. Preview rendering, print output, GP push. InvoiceType enum. Summary box in settings.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" y="4059936"/>
            <a:ext cx="4251960" cy="877824"/>
          </a:xfrm>
          <a:prstGeom prst="rect">
            <a:avLst/>
          </a:prstGeom>
          <a:solidFill>
            <a:srgbClr val="13161D"/>
          </a:solidFill>
          <a:ln w="12700">
            <a:solidFill>
              <a:srgbClr val="2228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4059936"/>
            <a:ext cx="47549" cy="877824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" y="412394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gp-integration.js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83864" y="4142232"/>
            <a:ext cx="914400" cy="20116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83864" y="41422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~280 lines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84632" y="4379976"/>
            <a:ext cx="38953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GhostPracticeIntegration class. OAuth2 auth simulation, batch pushTimeEntries(), syncMatters(), generateInvoice().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82312" y="1234440"/>
            <a:ext cx="4251960" cy="877824"/>
          </a:xfrm>
          <a:prstGeom prst="rect">
            <a:avLst/>
          </a:prstGeom>
          <a:solidFill>
            <a:srgbClr val="13161D"/>
          </a:solidFill>
          <a:ln w="12700">
            <a:solidFill>
              <a:srgbClr val="2228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82312" y="1234440"/>
            <a:ext cx="47549" cy="877824"/>
          </a:xfrm>
          <a:prstGeom prst="rect">
            <a:avLst/>
          </a:prstGeom>
          <a:solidFill>
            <a:srgbClr val="7A8299"/>
          </a:solidFill>
          <a:ln w="12700">
            <a:solidFill>
              <a:srgbClr val="7A829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46904" y="129844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utils/date-helpers.js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946136" y="1316736"/>
            <a:ext cx="914400" cy="20116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946136" y="131673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~150 lines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946904" y="1554480"/>
            <a:ext cx="38953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toBillingUnits(), formatDuration(), getBillingPeriodStart(), isBusinessDay(), getBusinessDaysBetween().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82312" y="2176272"/>
            <a:ext cx="4251960" cy="877824"/>
          </a:xfrm>
          <a:prstGeom prst="rect">
            <a:avLst/>
          </a:prstGeom>
          <a:solidFill>
            <a:srgbClr val="13161D"/>
          </a:solidFill>
          <a:ln w="12700">
            <a:solidFill>
              <a:srgbClr val="2228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82312" y="2176272"/>
            <a:ext cx="47549" cy="877824"/>
          </a:xfrm>
          <a:prstGeom prst="rect">
            <a:avLst/>
          </a:prstGeom>
          <a:solidFill>
            <a:srgbClr val="7A8299"/>
          </a:solidFill>
          <a:ln w="12700">
            <a:solidFill>
              <a:srgbClr val="7A829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46904" y="224028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utils/matter-lookup.js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946136" y="2258568"/>
            <a:ext cx="914400" cy="20116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946136" y="22585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~200 lines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946904" y="2496312"/>
            <a:ext cx="38953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isValidMatterNumber(), searchMatters(), getMatterSuggestions(), createMatter() — powers the autocomplete datalist.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782312" y="3118104"/>
            <a:ext cx="4251960" cy="877824"/>
          </a:xfrm>
          <a:prstGeom prst="rect">
            <a:avLst/>
          </a:prstGeom>
          <a:solidFill>
            <a:srgbClr val="13161D"/>
          </a:solidFill>
          <a:ln w="12700">
            <a:solidFill>
              <a:srgbClr val="2228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82312" y="3118104"/>
            <a:ext cx="47549" cy="877824"/>
          </a:xfrm>
          <a:prstGeom prst="rect">
            <a:avLst/>
          </a:prstGeom>
          <a:solidFill>
            <a:srgbClr val="7A8299"/>
          </a:solidFill>
          <a:ln w="12700">
            <a:solidFill>
              <a:srgbClr val="7A829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46904" y="318211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utils/toast-notification.js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7946136" y="3200400"/>
            <a:ext cx="914400" cy="20116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946136" y="32004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~150 lines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946904" y="3438144"/>
            <a:ext cx="38953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showToast(), showSuccess/Error/Warning/Info(). Full toast container + animations. initLegacyToast() shim.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782312" y="4059936"/>
            <a:ext cx="4251960" cy="877824"/>
          </a:xfrm>
          <a:prstGeom prst="rect">
            <a:avLst/>
          </a:prstGeom>
          <a:solidFill>
            <a:srgbClr val="13161D"/>
          </a:solidFill>
          <a:ln w="12700">
            <a:solidFill>
              <a:srgbClr val="2228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782312" y="4059936"/>
            <a:ext cx="47549" cy="877824"/>
          </a:xfrm>
          <a:prstGeom prst="rect">
            <a:avLst/>
          </a:prstGeom>
          <a:solidFill>
            <a:srgbClr val="4A5168"/>
          </a:solidFill>
          <a:ln w="12700">
            <a:solidFill>
              <a:srgbClr val="4A516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946904" y="412394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styles/ (6 CSS files)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7946136" y="4142232"/>
            <a:ext cx="914400" cy="20116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946136" y="41422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~700 lines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946904" y="4379976"/>
            <a:ext cx="38953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· dashboard · capture · entries · invoice · analytics.css — CSS custom properties throughout. Print CSS for invoice.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Ghost Practice Integration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gp-integration.js · Simulated OAuth2 + REST API flow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1536192" cy="1005840"/>
          </a:xfrm>
          <a:prstGeom prst="rect">
            <a:avLst/>
          </a:prstGeom>
          <a:solidFill>
            <a:srgbClr val="13161D"/>
          </a:solidFill>
          <a:ln w="1905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1536192" cy="10058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389888"/>
            <a:ext cx="13898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Attorney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Approves Draft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901952" y="1737360"/>
            <a:ext cx="18288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84832" y="1234440"/>
            <a:ext cx="1536192" cy="1005840"/>
          </a:xfrm>
          <a:prstGeom prst="rect">
            <a:avLst/>
          </a:prstGeom>
          <a:solidFill>
            <a:srgbClr val="13161D"/>
          </a:solidFill>
          <a:ln w="19050">
            <a:solidFill>
              <a:srgbClr val="E08A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084832" y="1234440"/>
            <a:ext cx="1536192" cy="100584"/>
          </a:xfrm>
          <a:prstGeom prst="rect">
            <a:avLst/>
          </a:prstGeom>
          <a:solidFill>
            <a:srgbClr val="E08A3C"/>
          </a:solidFill>
          <a:ln w="12700">
            <a:solidFill>
              <a:srgbClr val="E08A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57984" y="1389888"/>
            <a:ext cx="13898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createGPTimeEntry()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conversion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21024" y="1737360"/>
            <a:ext cx="18288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03904" y="1234440"/>
            <a:ext cx="1536192" cy="1005840"/>
          </a:xfrm>
          <a:prstGeom prst="rect">
            <a:avLst/>
          </a:prstGeom>
          <a:solidFill>
            <a:srgbClr val="13161D"/>
          </a:solidFill>
          <a:ln w="19050">
            <a:solidFill>
              <a:srgbClr val="5B8E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803904" y="1234440"/>
            <a:ext cx="1536192" cy="100584"/>
          </a:xfrm>
          <a:prstGeom prst="rect">
            <a:avLst/>
          </a:prstGeom>
          <a:solidFill>
            <a:srgbClr val="5B8EF0"/>
          </a:solidFill>
          <a:ln w="12700">
            <a:solidFill>
              <a:srgbClr val="5B8E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77056" y="1389888"/>
            <a:ext cx="13898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 Auth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 token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340096" y="1737360"/>
            <a:ext cx="18288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522976" y="1234440"/>
            <a:ext cx="1536192" cy="1005840"/>
          </a:xfrm>
          <a:prstGeom prst="rect">
            <a:avLst/>
          </a:prstGeom>
          <a:solidFill>
            <a:srgbClr val="13161D"/>
          </a:solidFill>
          <a:ln w="19050">
            <a:solidFill>
              <a:srgbClr val="4CAF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522976" y="1234440"/>
            <a:ext cx="1536192" cy="100584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96128" y="1389888"/>
            <a:ext cx="13898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pushTimeEntries()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POST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059168" y="1737360"/>
            <a:ext cx="18288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42048" y="1234440"/>
            <a:ext cx="1536192" cy="1005840"/>
          </a:xfrm>
          <a:prstGeom prst="rect">
            <a:avLst/>
          </a:prstGeom>
          <a:solidFill>
            <a:srgbClr val="13161D"/>
          </a:solidFill>
          <a:ln w="19050">
            <a:solidFill>
              <a:srgbClr val="4CAF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242048" y="1234440"/>
            <a:ext cx="1536192" cy="100584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0" y="1389888"/>
            <a:ext cx="13898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Ghost Practice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65760" y="239572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Methods in GhostPracticeIntegration Class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2788920"/>
            <a:ext cx="4251960" cy="694944"/>
          </a:xfrm>
          <a:prstGeom prst="rect">
            <a:avLst/>
          </a:prstGeom>
          <a:solidFill>
            <a:srgbClr val="13161D"/>
          </a:solidFill>
          <a:ln w="12700">
            <a:solidFill>
              <a:srgbClr val="2228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" y="2880360"/>
            <a:ext cx="2331720" cy="219456"/>
          </a:xfrm>
          <a:prstGeom prst="rect">
            <a:avLst/>
          </a:prstGeom>
          <a:solidFill>
            <a:srgbClr val="181C25"/>
          </a:solidFill>
          <a:ln w="6350">
            <a:solidFill>
              <a:srgbClr val="22283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1208" y="288036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authenticate()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21208" y="313639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Simulates OAuth2. Stores access + refresh tokens. Production: real GP OAuth endpoint.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5760" y="3538728"/>
            <a:ext cx="4251960" cy="694944"/>
          </a:xfrm>
          <a:prstGeom prst="rect">
            <a:avLst/>
          </a:prstGeom>
          <a:solidFill>
            <a:srgbClr val="13161D"/>
          </a:solidFill>
          <a:ln w="12700">
            <a:solidFill>
              <a:srgbClr val="2228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" y="3630168"/>
            <a:ext cx="2331720" cy="219456"/>
          </a:xfrm>
          <a:prstGeom prst="rect">
            <a:avLst/>
          </a:prstGeom>
          <a:solidFill>
            <a:srgbClr val="181C25"/>
          </a:solidFill>
          <a:ln w="6350">
            <a:solidFill>
              <a:srgbClr val="22283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1208" y="363016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pushTimeEntry(entry)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21208" y="388620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TimeLex entry to GP format. POSTs to /time-entries. Returns success/failure.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65760" y="4288536"/>
            <a:ext cx="4251960" cy="694944"/>
          </a:xfrm>
          <a:prstGeom prst="rect">
            <a:avLst/>
          </a:prstGeom>
          <a:solidFill>
            <a:srgbClr val="13161D"/>
          </a:solidFill>
          <a:ln w="12700">
            <a:solidFill>
              <a:srgbClr val="2228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5488" y="4379976"/>
            <a:ext cx="2331720" cy="219456"/>
          </a:xfrm>
          <a:prstGeom prst="rect">
            <a:avLst/>
          </a:prstGeom>
          <a:solidFill>
            <a:srgbClr val="181C25"/>
          </a:solidFill>
          <a:ln w="6350">
            <a:solidFill>
              <a:srgbClr val="22283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1208" y="437997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pushTimeEntries([])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21208" y="463600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push with rate-limit delays. Shows per-entry success/fail summary toast.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828032" y="2788920"/>
            <a:ext cx="4251960" cy="694944"/>
          </a:xfrm>
          <a:prstGeom prst="rect">
            <a:avLst/>
          </a:prstGeom>
          <a:solidFill>
            <a:srgbClr val="13161D"/>
          </a:solidFill>
          <a:ln w="12700">
            <a:solidFill>
              <a:srgbClr val="2228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937760" y="2880360"/>
            <a:ext cx="2331720" cy="219456"/>
          </a:xfrm>
          <a:prstGeom prst="rect">
            <a:avLst/>
          </a:prstGeom>
          <a:solidFill>
            <a:srgbClr val="181C25"/>
          </a:solidFill>
          <a:ln w="6350">
            <a:solidFill>
              <a:srgbClr val="22283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83480" y="288036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syncMatters()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983480" y="313639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active matters from GP. Populates matter autocomplete dropdown.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828032" y="3538728"/>
            <a:ext cx="4251960" cy="694944"/>
          </a:xfrm>
          <a:prstGeom prst="rect">
            <a:avLst/>
          </a:prstGeom>
          <a:solidFill>
            <a:srgbClr val="13161D"/>
          </a:solidFill>
          <a:ln w="12700">
            <a:solidFill>
              <a:srgbClr val="2228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937760" y="3630168"/>
            <a:ext cx="2331720" cy="219456"/>
          </a:xfrm>
          <a:prstGeom prst="rect">
            <a:avLst/>
          </a:prstGeom>
          <a:solidFill>
            <a:srgbClr val="181C25"/>
          </a:solidFill>
          <a:ln w="6350">
            <a:solidFill>
              <a:srgbClr val="22283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83480" y="363016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generateInvoice()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983480" y="388620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pro-forma or final invoice in GP. Returns invoice number.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828032" y="4288536"/>
            <a:ext cx="4251960" cy="694944"/>
          </a:xfrm>
          <a:prstGeom prst="rect">
            <a:avLst/>
          </a:prstGeom>
          <a:solidFill>
            <a:srgbClr val="13161D"/>
          </a:solidFill>
          <a:ln w="12700">
            <a:solidFill>
              <a:srgbClr val="2228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937760" y="4379976"/>
            <a:ext cx="2331720" cy="219456"/>
          </a:xfrm>
          <a:prstGeom prst="rect">
            <a:avLst/>
          </a:prstGeom>
          <a:solidFill>
            <a:srgbClr val="181C25"/>
          </a:solidFill>
          <a:ln w="6350">
            <a:solidFill>
              <a:srgbClr val="22283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83480" y="437997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createGPTimeEntries()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983480" y="463600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— transforms TimeLex entry array to GP format (YYYY-MM-DD, units, narration, source:'TimeLex').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5 — Risk &amp; Compliance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POPIA · Attorney-Client Privilege · Ethics · Adoption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4251960" cy="1152144"/>
          </a:xfrm>
          <a:prstGeom prst="rect">
            <a:avLst/>
          </a:prstGeom>
          <a:solidFill>
            <a:srgbClr val="13161D"/>
          </a:solidFill>
          <a:ln w="12700">
            <a:solidFill>
              <a:srgbClr val="2228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34440"/>
            <a:ext cx="47549" cy="1152144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575304" y="1325880"/>
            <a:ext cx="822960" cy="219456"/>
          </a:xfrm>
          <a:prstGeom prst="rect">
            <a:avLst/>
          </a:prstGeom>
          <a:solidFill>
            <a:srgbClr val="000000"/>
          </a:solidFill>
          <a:ln w="6350">
            <a:solidFill>
              <a:srgbClr val="E05C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75304" y="132588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129844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Attorney-Client Privilege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5636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metadata captured — no email content stored. Entries stay locally; no third-party cloud used.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19202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Zero content logging + on-premise deployment option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2450592"/>
            <a:ext cx="4251960" cy="1152144"/>
          </a:xfrm>
          <a:prstGeom prst="rect">
            <a:avLst/>
          </a:prstGeom>
          <a:solidFill>
            <a:srgbClr val="13161D"/>
          </a:solidFill>
          <a:ln w="12700">
            <a:solidFill>
              <a:srgbClr val="2228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450592"/>
            <a:ext cx="47549" cy="1152144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75304" y="2542032"/>
            <a:ext cx="822960" cy="219456"/>
          </a:xfrm>
          <a:prstGeom prst="rect">
            <a:avLst/>
          </a:prstGeom>
          <a:solidFill>
            <a:srgbClr val="000000"/>
          </a:solidFill>
          <a:ln w="6350">
            <a:solidFill>
              <a:srgbClr val="E05C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75304" y="254203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2920" y="251460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POPIA Compliance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277977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personal data stays within firm infrastructure. No external analytics, data residency in South Africa.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02920" y="31363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Firm-hosted deployment + South African data residency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3666744"/>
            <a:ext cx="4251960" cy="1152144"/>
          </a:xfrm>
          <a:prstGeom prst="rect">
            <a:avLst/>
          </a:prstGeom>
          <a:solidFill>
            <a:srgbClr val="13161D"/>
          </a:solidFill>
          <a:ln w="12700">
            <a:solidFill>
              <a:srgbClr val="2228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666744"/>
            <a:ext cx="47549" cy="1152144"/>
          </a:xfrm>
          <a:prstGeom prst="rect">
            <a:avLst/>
          </a:prstGeom>
          <a:solidFill>
            <a:srgbClr val="E08A3C"/>
          </a:solidFill>
          <a:ln w="12700">
            <a:solidFill>
              <a:srgbClr val="E08A3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75304" y="3758184"/>
            <a:ext cx="822960" cy="219456"/>
          </a:xfrm>
          <a:prstGeom prst="rect">
            <a:avLst/>
          </a:prstGeom>
          <a:solidFill>
            <a:srgbClr val="000000"/>
          </a:solidFill>
          <a:ln w="6350">
            <a:solidFill>
              <a:srgbClr val="E08A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75304" y="375818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08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2920" y="373075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Overbilling Risk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399592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Auto-capture could log non-billable activities as billable if left unchecked.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02920" y="435254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08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Attorney approval required before any entry reaches billing. No blind auto-posting ever.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82312" y="1234440"/>
            <a:ext cx="4251960" cy="1152144"/>
          </a:xfrm>
          <a:prstGeom prst="rect">
            <a:avLst/>
          </a:prstGeom>
          <a:solidFill>
            <a:srgbClr val="13161D"/>
          </a:solidFill>
          <a:ln w="12700">
            <a:solidFill>
              <a:srgbClr val="2228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82312" y="1234440"/>
            <a:ext cx="47549" cy="1152144"/>
          </a:xfrm>
          <a:prstGeom prst="rect">
            <a:avLst/>
          </a:prstGeom>
          <a:solidFill>
            <a:srgbClr val="E08A3C"/>
          </a:solidFill>
          <a:ln w="12700">
            <a:solidFill>
              <a:srgbClr val="E08A3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37576" y="1325880"/>
            <a:ext cx="822960" cy="219456"/>
          </a:xfrm>
          <a:prstGeom prst="rect">
            <a:avLst/>
          </a:prstGeom>
          <a:solidFill>
            <a:srgbClr val="000000"/>
          </a:solidFill>
          <a:ln w="6350">
            <a:solidFill>
              <a:srgbClr val="E08A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37576" y="132588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08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965192" y="129844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 API Availability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65192" y="15636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Ghost Practice API may be unavailable during outages or maintenance periods.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965192" y="19202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08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CSV export fallback — entries always exportable regardless of GP status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82312" y="2450592"/>
            <a:ext cx="4251960" cy="1152144"/>
          </a:xfrm>
          <a:prstGeom prst="rect">
            <a:avLst/>
          </a:prstGeom>
          <a:solidFill>
            <a:srgbClr val="13161D"/>
          </a:solidFill>
          <a:ln w="12700">
            <a:solidFill>
              <a:srgbClr val="2228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82312" y="2450592"/>
            <a:ext cx="47549" cy="115214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037576" y="2542032"/>
            <a:ext cx="822960" cy="219456"/>
          </a:xfrm>
          <a:prstGeom prst="rect">
            <a:avLst/>
          </a:prstGeom>
          <a:solidFill>
            <a:srgbClr val="000000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037576" y="254203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965192" y="251460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Resistance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965192" y="277977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Attorneys may resist changing established habits even if those habits are inefficient.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965192" y="31363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Minimal behaviour change: review instead of retype. No new login or tool to learn.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782312" y="3666744"/>
            <a:ext cx="4251960" cy="1152144"/>
          </a:xfrm>
          <a:prstGeom prst="rect">
            <a:avLst/>
          </a:prstGeom>
          <a:solidFill>
            <a:srgbClr val="13161D"/>
          </a:solidFill>
          <a:ln w="12700">
            <a:solidFill>
              <a:srgbClr val="2228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82312" y="3666744"/>
            <a:ext cx="47549" cy="115214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037576" y="3758184"/>
            <a:ext cx="822960" cy="219456"/>
          </a:xfrm>
          <a:prstGeom prst="rect">
            <a:avLst/>
          </a:prstGeom>
          <a:solidFill>
            <a:srgbClr val="000000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037576" y="375818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965192" y="373075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Inaccurate Matter Matching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965192" y="399592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Keyword-based matching may assign the wrong matter to an activity.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965192" y="435254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Matter is always editable before approval. Attorney is the final decision-maker always.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3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ROI &amp; Business Case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 that justify building TimeLex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201168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31673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R406k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18653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Ghost Practice cost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13969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R33 925 × 12 months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514600" y="1234440"/>
            <a:ext cx="201168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06040" y="131673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08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days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606040" y="18653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per attorney per month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606040" y="213969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manual fee capture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663440" y="1234440"/>
            <a:ext cx="201168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131673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754880" y="18653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time to approve entries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54880" y="213969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hours of reconstruction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812280" y="1234440"/>
            <a:ext cx="201168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903720" y="131673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~20%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903720" y="18653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billing uplift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903720" y="213969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capturing missed time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65760" y="2651760"/>
            <a:ext cx="47548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48640" y="2761488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3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TimeLex Pays For Itself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94360" y="3163824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050" dirty="0">
                <a:solidFill>
                  <a:srgbClr val="3A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attorney who misses 30 min/day = ~R8 750/month at R350/hour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94360" y="347472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050" dirty="0">
                <a:solidFill>
                  <a:srgbClr val="3A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attorneys = R87 500+ monthly in lost billable time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94360" y="3785616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050" dirty="0">
                <a:solidFill>
                  <a:srgbClr val="3A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TimeLex captures that automatically — ROI is immediate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94360" y="409651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050" dirty="0">
                <a:solidFill>
                  <a:srgbClr val="3A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per-seat licensing — one web app for the entire firm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94360" y="440740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050" dirty="0">
                <a:solidFill>
                  <a:srgbClr val="3A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Ghost Practice remains — TimeLex is an enhancement layer</a:t>
            </a:r>
            <a:endParaRPr lang="en-US" sz="105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5257800" y="2651760"/>
          <a:ext cx="356616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Walkthrough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steps · ~8 minutes · open index.html via Live Server before presenting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243584"/>
            <a:ext cx="4251960" cy="704088"/>
          </a:xfrm>
          <a:prstGeom prst="rect">
            <a:avLst/>
          </a:prstGeom>
          <a:solidFill>
            <a:srgbClr val="13161D"/>
          </a:solidFill>
          <a:ln w="12700">
            <a:solidFill>
              <a:srgbClr val="2228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29768" y="1389888"/>
            <a:ext cx="420624" cy="420624"/>
          </a:xfrm>
          <a:prstGeom prst="rect">
            <a:avLst/>
          </a:prstGeom>
          <a:solidFill>
            <a:srgbClr val="000000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3898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886200" y="1335024"/>
            <a:ext cx="548640" cy="219456"/>
          </a:xfrm>
          <a:prstGeom prst="rect">
            <a:avLst/>
          </a:prstGeom>
          <a:solidFill>
            <a:srgbClr val="0D0F14"/>
          </a:solidFill>
          <a:ln w="6350">
            <a:solidFill>
              <a:srgbClr val="22283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86200" y="133502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78408" y="130759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app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78408" y="1572768"/>
            <a:ext cx="3310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loads with pre-seeded entries and live stats. Show the real-time clock and billing progress bar.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" y="2002536"/>
            <a:ext cx="4251960" cy="704088"/>
          </a:xfrm>
          <a:prstGeom prst="rect">
            <a:avLst/>
          </a:prstGeom>
          <a:solidFill>
            <a:srgbClr val="13161D"/>
          </a:solidFill>
          <a:ln w="12700">
            <a:solidFill>
              <a:srgbClr val="2228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9768" y="2148840"/>
            <a:ext cx="420624" cy="420624"/>
          </a:xfrm>
          <a:prstGeom prst="rect">
            <a:avLst/>
          </a:prstGeom>
          <a:solidFill>
            <a:srgbClr val="000000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" y="21488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886200" y="2093976"/>
            <a:ext cx="548640" cy="219456"/>
          </a:xfrm>
          <a:prstGeom prst="rect">
            <a:avLst/>
          </a:prstGeom>
          <a:solidFill>
            <a:srgbClr val="0D0F14"/>
          </a:solidFill>
          <a:ln w="6350">
            <a:solidFill>
              <a:srgbClr val="22283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86200" y="209397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78408" y="206654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activity feed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78408" y="2331720"/>
            <a:ext cx="3310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to the feed — a new activity appears every ~10 seconds automatically. Show email detected → draft created in real time.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2761488"/>
            <a:ext cx="4251960" cy="704088"/>
          </a:xfrm>
          <a:prstGeom prst="rect">
            <a:avLst/>
          </a:prstGeom>
          <a:solidFill>
            <a:srgbClr val="13161D"/>
          </a:solidFill>
          <a:ln w="12700">
            <a:solidFill>
              <a:srgbClr val="2228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29768" y="2907792"/>
            <a:ext cx="420624" cy="420624"/>
          </a:xfrm>
          <a:prstGeom prst="rect">
            <a:avLst/>
          </a:prstGeom>
          <a:solidFill>
            <a:srgbClr val="000000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9768" y="29077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886200" y="2852928"/>
            <a:ext cx="548640" cy="219456"/>
          </a:xfrm>
          <a:prstGeom prst="rect">
            <a:avLst/>
          </a:prstGeom>
          <a:solidFill>
            <a:srgbClr val="0D0F14"/>
          </a:solidFill>
          <a:ln w="6350">
            <a:solidFill>
              <a:srgbClr val="22283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86200" y="285292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78408" y="282549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a draft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78408" y="3090672"/>
            <a:ext cx="3310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Draft Entries panel. Type matter number — autocomplete fires. Click ✓ Approve. Stats update live immediately.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0040" y="3520440"/>
            <a:ext cx="4251960" cy="704088"/>
          </a:xfrm>
          <a:prstGeom prst="rect">
            <a:avLst/>
          </a:prstGeom>
          <a:solidFill>
            <a:srgbClr val="13161D"/>
          </a:solidFill>
          <a:ln w="12700">
            <a:solidFill>
              <a:srgbClr val="2228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29768" y="3666744"/>
            <a:ext cx="420624" cy="420624"/>
          </a:xfrm>
          <a:prstGeom prst="rect">
            <a:avLst/>
          </a:prstGeom>
          <a:solidFill>
            <a:srgbClr val="000000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9768" y="36667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886200" y="3611880"/>
            <a:ext cx="548640" cy="219456"/>
          </a:xfrm>
          <a:prstGeom prst="rect">
            <a:avLst/>
          </a:prstGeom>
          <a:solidFill>
            <a:srgbClr val="0D0F14"/>
          </a:solidFill>
          <a:ln w="6350">
            <a:solidFill>
              <a:srgbClr val="22283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86200" y="361188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78408" y="358444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All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78408" y="3849624"/>
            <a:ext cx="3310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Accumulate 3-4 drafts. Click "Approve All". Entire day cleared instantly. This is hours of Ghost Practice work in one click.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0040" y="4279392"/>
            <a:ext cx="4251960" cy="704088"/>
          </a:xfrm>
          <a:prstGeom prst="rect">
            <a:avLst/>
          </a:prstGeom>
          <a:solidFill>
            <a:srgbClr val="13161D"/>
          </a:solidFill>
          <a:ln w="12700">
            <a:solidFill>
              <a:srgbClr val="2228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29768" y="4425696"/>
            <a:ext cx="420624" cy="420624"/>
          </a:xfrm>
          <a:prstGeom prst="rect">
            <a:avLst/>
          </a:prstGeom>
          <a:solidFill>
            <a:srgbClr val="000000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9768" y="44256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886200" y="4370832"/>
            <a:ext cx="548640" cy="219456"/>
          </a:xfrm>
          <a:prstGeom prst="rect">
            <a:avLst/>
          </a:prstGeom>
          <a:solidFill>
            <a:srgbClr val="0D0F14"/>
          </a:solidFill>
          <a:ln w="6350">
            <a:solidFill>
              <a:srgbClr val="22283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886200" y="437083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978408" y="434340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Entries view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78408" y="4608576"/>
            <a:ext cx="3310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entries table with auto/manual source tags. Filter by matter. Show summary line — units and hours total.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82312" y="1243584"/>
            <a:ext cx="4251960" cy="704088"/>
          </a:xfrm>
          <a:prstGeom prst="rect">
            <a:avLst/>
          </a:prstGeom>
          <a:solidFill>
            <a:srgbClr val="13161D"/>
          </a:solidFill>
          <a:ln w="12700">
            <a:solidFill>
              <a:srgbClr val="2228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892040" y="1389888"/>
            <a:ext cx="420624" cy="420624"/>
          </a:xfrm>
          <a:prstGeom prst="rect">
            <a:avLst/>
          </a:prstGeom>
          <a:solidFill>
            <a:srgbClr val="000000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92040" y="13898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348472" y="1335024"/>
            <a:ext cx="548640" cy="219456"/>
          </a:xfrm>
          <a:prstGeom prst="rect">
            <a:avLst/>
          </a:prstGeom>
          <a:solidFill>
            <a:srgbClr val="0D0F14"/>
          </a:solidFill>
          <a:ln w="6350">
            <a:solidFill>
              <a:srgbClr val="22283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348472" y="133502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440680" y="130759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entry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440680" y="1572768"/>
            <a:ext cx="3310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Live Capture. Add Court Attendance manually. 30 minutes → 5 units calculated automatically.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782312" y="2002536"/>
            <a:ext cx="4251960" cy="704088"/>
          </a:xfrm>
          <a:prstGeom prst="rect">
            <a:avLst/>
          </a:prstGeom>
          <a:solidFill>
            <a:srgbClr val="13161D"/>
          </a:solidFill>
          <a:ln w="12700">
            <a:solidFill>
              <a:srgbClr val="2228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892040" y="2148840"/>
            <a:ext cx="420624" cy="420624"/>
          </a:xfrm>
          <a:prstGeom prst="rect">
            <a:avLst/>
          </a:prstGeom>
          <a:solidFill>
            <a:srgbClr val="000000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92040" y="21488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8348472" y="2093976"/>
            <a:ext cx="548640" cy="219456"/>
          </a:xfrm>
          <a:prstGeom prst="rect">
            <a:avLst/>
          </a:prstGeom>
          <a:solidFill>
            <a:srgbClr val="0D0F14"/>
          </a:solidFill>
          <a:ln w="6350">
            <a:solidFill>
              <a:srgbClr val="22283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348472" y="209397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60s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440680" y="206654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Generator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440680" y="2331720"/>
            <a:ext cx="3310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matter, R3 500 rate, click Generate Preview. Show formatted invoice with all entries and VAT calculation.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782312" y="2761488"/>
            <a:ext cx="4251960" cy="704088"/>
          </a:xfrm>
          <a:prstGeom prst="rect">
            <a:avLst/>
          </a:prstGeom>
          <a:solidFill>
            <a:srgbClr val="13161D"/>
          </a:solidFill>
          <a:ln w="12700">
            <a:solidFill>
              <a:srgbClr val="2228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4892040" y="2907792"/>
            <a:ext cx="420624" cy="420624"/>
          </a:xfrm>
          <a:prstGeom prst="rect">
            <a:avLst/>
          </a:prstGeom>
          <a:solidFill>
            <a:srgbClr val="000000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892040" y="29077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8348472" y="2852928"/>
            <a:ext cx="548640" cy="219456"/>
          </a:xfrm>
          <a:prstGeom prst="rect">
            <a:avLst/>
          </a:prstGeom>
          <a:solidFill>
            <a:srgbClr val="0D0F14"/>
          </a:solidFill>
          <a:ln w="6350">
            <a:solidFill>
              <a:srgbClr val="22283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348472" y="285292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45s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5440680" y="282549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5440680" y="3090672"/>
            <a:ext cx="3310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Analytics (5th nav). Show hours by activity type donut, hours by matter bar chart, weekly timeline.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4782312" y="3520440"/>
            <a:ext cx="4251960" cy="704088"/>
          </a:xfrm>
          <a:prstGeom prst="rect">
            <a:avLst/>
          </a:prstGeom>
          <a:solidFill>
            <a:srgbClr val="13161D"/>
          </a:solidFill>
          <a:ln w="12700">
            <a:solidFill>
              <a:srgbClr val="2228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4892040" y="3666744"/>
            <a:ext cx="420624" cy="420624"/>
          </a:xfrm>
          <a:prstGeom prst="rect">
            <a:avLst/>
          </a:prstGeom>
          <a:solidFill>
            <a:srgbClr val="000000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892040" y="36667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8348472" y="3611880"/>
            <a:ext cx="548640" cy="219456"/>
          </a:xfrm>
          <a:prstGeom prst="rect">
            <a:avLst/>
          </a:prstGeom>
          <a:solidFill>
            <a:srgbClr val="0D0F14"/>
          </a:solidFill>
          <a:ln w="6350">
            <a:solidFill>
              <a:srgbClr val="22283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348472" y="361188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30s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5440680" y="358444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Ghost Practice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5440680" y="3849624"/>
            <a:ext cx="3310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Push to Ghost Practice. Show success toast. Explain GP API integration layer in production.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320040" y="4919472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 review not retype · auto-detect not reconstruct · GP-ready output · analytics show the value instantly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3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 Roadmap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prototype to production — what comes after assessment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243584"/>
            <a:ext cx="274320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43584"/>
            <a:ext cx="2743200" cy="512064"/>
          </a:xfrm>
          <a:prstGeom prst="rect">
            <a:avLst/>
          </a:prstGeom>
          <a:solidFill>
            <a:srgbClr val="5B8EF0"/>
          </a:solidFill>
          <a:ln w="12700">
            <a:solidFill>
              <a:srgbClr val="5B8E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6187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49961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874520" y="131673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1–2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02920" y="1901952"/>
            <a:ext cx="2468880" cy="548640"/>
          </a:xfrm>
          <a:prstGeom prst="rect">
            <a:avLst/>
          </a:prstGeom>
          <a:solidFill>
            <a:srgbClr val="F4F6F9"/>
          </a:solidFill>
          <a:ln w="6350">
            <a:solidFill>
              <a:srgbClr val="D0D5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1901952"/>
            <a:ext cx="36576" cy="548640"/>
          </a:xfrm>
          <a:prstGeom prst="rect">
            <a:avLst/>
          </a:prstGeom>
          <a:solidFill>
            <a:srgbClr val="5B8EF0"/>
          </a:solidFill>
          <a:ln w="12700">
            <a:solidFill>
              <a:srgbClr val="5B8E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3504" y="1901952"/>
            <a:ext cx="2304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Microsoft Graph API (Outlook, Calendar, Teams)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2560320"/>
            <a:ext cx="2468880" cy="548640"/>
          </a:xfrm>
          <a:prstGeom prst="rect">
            <a:avLst/>
          </a:prstGeom>
          <a:solidFill>
            <a:srgbClr val="F4F6F9"/>
          </a:solidFill>
          <a:ln w="6350">
            <a:solidFill>
              <a:srgbClr val="D0D5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2560320"/>
            <a:ext cx="36576" cy="548640"/>
          </a:xfrm>
          <a:prstGeom prst="rect">
            <a:avLst/>
          </a:prstGeom>
          <a:solidFill>
            <a:srgbClr val="5B8EF0"/>
          </a:solidFill>
          <a:ln w="12700">
            <a:solidFill>
              <a:srgbClr val="5B8E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" y="2560320"/>
            <a:ext cx="2304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Ghost Practice REST API integration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3218688"/>
            <a:ext cx="2468880" cy="548640"/>
          </a:xfrm>
          <a:prstGeom prst="rect">
            <a:avLst/>
          </a:prstGeom>
          <a:solidFill>
            <a:srgbClr val="F4F6F9"/>
          </a:solidFill>
          <a:ln w="6350">
            <a:solidFill>
              <a:srgbClr val="D0D5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3218688"/>
            <a:ext cx="36576" cy="548640"/>
          </a:xfrm>
          <a:prstGeom prst="rect">
            <a:avLst/>
          </a:prstGeom>
          <a:solidFill>
            <a:srgbClr val="5B8EF0"/>
          </a:solidFill>
          <a:ln w="12700">
            <a:solidFill>
              <a:srgbClr val="5B8E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" y="3218688"/>
            <a:ext cx="2304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Per-attorney authentication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" y="3877056"/>
            <a:ext cx="2468880" cy="548640"/>
          </a:xfrm>
          <a:prstGeom prst="rect">
            <a:avLst/>
          </a:prstGeom>
          <a:solidFill>
            <a:srgbClr val="F4F6F9"/>
          </a:solidFill>
          <a:ln w="6350">
            <a:solidFill>
              <a:srgbClr val="D0D5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877056"/>
            <a:ext cx="36576" cy="548640"/>
          </a:xfrm>
          <a:prstGeom prst="rect">
            <a:avLst/>
          </a:prstGeom>
          <a:solidFill>
            <a:srgbClr val="5B8EF0"/>
          </a:solidFill>
          <a:ln w="12700">
            <a:solidFill>
              <a:srgbClr val="5B8E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" y="3877056"/>
            <a:ext cx="2304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 sync from GP database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46120" y="1243584"/>
            <a:ext cx="274320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46120" y="1243584"/>
            <a:ext cx="2743200" cy="5120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83280" y="126187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383280" y="149961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54880" y="131673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3–4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383280" y="1901952"/>
            <a:ext cx="2468880" cy="548640"/>
          </a:xfrm>
          <a:prstGeom prst="rect">
            <a:avLst/>
          </a:prstGeom>
          <a:solidFill>
            <a:srgbClr val="F4F6F9"/>
          </a:solidFill>
          <a:ln w="6350">
            <a:solidFill>
              <a:srgbClr val="D0D5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83280" y="1901952"/>
            <a:ext cx="36576" cy="5486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83864" y="1901952"/>
            <a:ext cx="2304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narration generation (GPT/Claude API)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383280" y="2560320"/>
            <a:ext cx="2468880" cy="548640"/>
          </a:xfrm>
          <a:prstGeom prst="rect">
            <a:avLst/>
          </a:prstGeom>
          <a:solidFill>
            <a:srgbClr val="F4F6F9"/>
          </a:solidFill>
          <a:ln w="6350">
            <a:solidFill>
              <a:srgbClr val="D0D5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83280" y="2560320"/>
            <a:ext cx="36576" cy="5486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83864" y="2560320"/>
            <a:ext cx="2304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 matter matching from history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383280" y="3218688"/>
            <a:ext cx="2468880" cy="548640"/>
          </a:xfrm>
          <a:prstGeom prst="rect">
            <a:avLst/>
          </a:prstGeom>
          <a:solidFill>
            <a:srgbClr val="F4F6F9"/>
          </a:solidFill>
          <a:ln w="6350">
            <a:solidFill>
              <a:srgbClr val="D0D5E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383280" y="3218688"/>
            <a:ext cx="36576" cy="5486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83864" y="3218688"/>
            <a:ext cx="2304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approval queue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383280" y="3877056"/>
            <a:ext cx="2468880" cy="548640"/>
          </a:xfrm>
          <a:prstGeom prst="rect">
            <a:avLst/>
          </a:prstGeom>
          <a:solidFill>
            <a:srgbClr val="F4F6F9"/>
          </a:solidFill>
          <a:ln w="6350">
            <a:solidFill>
              <a:srgbClr val="D0D5E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383280" y="3877056"/>
            <a:ext cx="36576" cy="5486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83864" y="3877056"/>
            <a:ext cx="2304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daily reminder notifications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126480" y="1243584"/>
            <a:ext cx="274320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126480" y="1243584"/>
            <a:ext cx="2743200" cy="512064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63640" y="126187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263640" y="149961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635240" y="131673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5–6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263640" y="1901952"/>
            <a:ext cx="2468880" cy="548640"/>
          </a:xfrm>
          <a:prstGeom prst="rect">
            <a:avLst/>
          </a:prstGeom>
          <a:solidFill>
            <a:srgbClr val="F4F6F9"/>
          </a:solidFill>
          <a:ln w="6350">
            <a:solidFill>
              <a:srgbClr val="D0D5E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263640" y="1901952"/>
            <a:ext cx="36576" cy="548640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64224" y="1901952"/>
            <a:ext cx="2304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(React Native) for on-the-go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263640" y="2560320"/>
            <a:ext cx="2468880" cy="548640"/>
          </a:xfrm>
          <a:prstGeom prst="rect">
            <a:avLst/>
          </a:prstGeom>
          <a:solidFill>
            <a:srgbClr val="F4F6F9"/>
          </a:solidFill>
          <a:ln w="6350">
            <a:solidFill>
              <a:srgbClr val="D0D5E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263640" y="2560320"/>
            <a:ext cx="36576" cy="548640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64224" y="2560320"/>
            <a:ext cx="2304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Multi-user team billing dashboards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263640" y="3218688"/>
            <a:ext cx="2468880" cy="548640"/>
          </a:xfrm>
          <a:prstGeom prst="rect">
            <a:avLst/>
          </a:prstGeom>
          <a:solidFill>
            <a:srgbClr val="F4F6F9"/>
          </a:solidFill>
          <a:ln w="6350">
            <a:solidFill>
              <a:srgbClr val="D0D5E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263640" y="3218688"/>
            <a:ext cx="36576" cy="548640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64224" y="3218688"/>
            <a:ext cx="2304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report generation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263640" y="3877056"/>
            <a:ext cx="2468880" cy="548640"/>
          </a:xfrm>
          <a:prstGeom prst="rect">
            <a:avLst/>
          </a:prstGeom>
          <a:solidFill>
            <a:srgbClr val="F4F6F9"/>
          </a:solidFill>
          <a:ln w="6350">
            <a:solidFill>
              <a:srgbClr val="D0D5E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263640" y="3877056"/>
            <a:ext cx="36576" cy="548640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64224" y="3877056"/>
            <a:ext cx="2304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POPIA audit trail + data export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365760" y="495604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prototype today is Phase 0 — fully functional, ready to demonstrate core value. Production integration follows this exact architecture.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8580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D0F14"/>
                </a:solidFill>
              </a:rPr>
              <a:t>⚖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274320" y="1664208"/>
            <a:ext cx="3291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D0F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TimeLex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274320" y="2304288"/>
            <a:ext cx="3291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D0F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Stop reconstructing.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i="1" dirty="0">
                <a:solidFill>
                  <a:srgbClr val="0D0F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billing.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3246120"/>
            <a:ext cx="292608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33832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Kone Tshivhinda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3639312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00" kern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PROTOTYPE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74320" y="4005072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github.com/konethegreat/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timelex-automated-time-tracking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069080" y="80467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E8EA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4069080" y="164592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built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069080" y="2029968"/>
            <a:ext cx="4663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  Auto-capture engine — 5 types, 7 integration classes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069080" y="2404872"/>
            <a:ext cx="4663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 Draft &amp; approve — 1 click instead of hours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069080" y="2779776"/>
            <a:ext cx="4663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◫  Live dashboard with real-time billing targets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069080" y="3154680"/>
            <a:ext cx="4663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  Self-service invoice generator with VAT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069080" y="3529584"/>
            <a:ext cx="4663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  Analytics — charts, export, matter breakdown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069080" y="3904488"/>
            <a:ext cx="4663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Ghost Practice integration layer (API-ready)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069080" y="4279392"/>
            <a:ext cx="4663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 9 source files · localStorage · keyboard shortcuts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069080" y="457200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TimeLex — Automated Legal Time Capture</dc:title>
  <dc:subject>PptxGenJS Presentation</dc:subject>
  <dc:creator>Kone Tshivhinda</dc:creator>
  <cp:lastModifiedBy>Kone Tshivhinda</cp:lastModifiedBy>
  <cp:revision>1</cp:revision>
  <dcterms:created xsi:type="dcterms:W3CDTF">2026-05-07T19:43:46Z</dcterms:created>
  <dcterms:modified xsi:type="dcterms:W3CDTF">2026-05-07T19:43:46Z</dcterms:modified>
</cp:coreProperties>
</file>