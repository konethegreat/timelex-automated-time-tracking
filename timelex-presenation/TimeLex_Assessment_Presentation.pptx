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charts/chart3.xml" ContentType="application/vnd.openxmlformats-officedocument.drawingml.chart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7" d="100"/>
          <a:sy n="117" d="100"/>
        </p:scale>
        <p:origin x="466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B8EF0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CCE7-45BC-BC28-0D33F72F2FDB}"/>
              </c:ext>
            </c:extLst>
          </c:dPt>
          <c:dPt>
            <c:idx val="1"/>
            <c:bubble3D val="0"/>
            <c:spPr>
              <a:solidFill>
                <a:srgbClr val="4CAF82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CCE7-45BC-BC28-0D33F72F2FDB}"/>
              </c:ext>
            </c:extLst>
          </c:dPt>
          <c:dPt>
            <c:idx val="2"/>
            <c:bubble3D val="0"/>
            <c:spPr>
              <a:solidFill>
                <a:srgbClr val="8B5CF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CCE7-45BC-BC28-0D33F72F2FDB}"/>
              </c:ext>
            </c:extLst>
          </c:dPt>
          <c:dPt>
            <c:idx val="3"/>
            <c:bubble3D val="0"/>
            <c:spPr>
              <a:solidFill>
                <a:srgbClr val="E08A3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CCE7-45BC-BC28-0D33F72F2FDB}"/>
              </c:ext>
            </c:extLst>
          </c:dPt>
          <c:dPt>
            <c:idx val="4"/>
            <c:bubble3D val="0"/>
            <c:spPr>
              <a:solidFill>
                <a:srgbClr val="C9A84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CCE7-45BC-BC28-0D33F72F2FDB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CE7-45BC-BC28-0D33F72F2FDB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CE7-45BC-BC28-0D33F72F2FDB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CCE7-45BC-BC28-0D33F72F2FDB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CCE7-45BC-BC28-0D33F72F2FDB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CCE7-45BC-BC28-0D33F72F2FDB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Sheet1!$A$2:$A$6</c:f>
              <c:strCache>
                <c:ptCount val="5"/>
                <c:pt idx="0">
                  <c:v>Email</c:v>
                </c:pt>
                <c:pt idx="1">
                  <c:v>Meeting</c:v>
                </c:pt>
                <c:pt idx="2">
                  <c:v>Document</c:v>
                </c:pt>
                <c:pt idx="3">
                  <c:v>Call</c:v>
                </c:pt>
                <c:pt idx="4">
                  <c:v>Research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2.2000000000000002</c:v>
                </c:pt>
                <c:pt idx="1">
                  <c:v>1.8</c:v>
                </c:pt>
                <c:pt idx="2">
                  <c:v>3.1</c:v>
                </c:pt>
                <c:pt idx="3">
                  <c:v>0.8</c:v>
                </c:pt>
                <c:pt idx="4">
                  <c:v>1.2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CCE7-45BC-BC28-0D33F72F2FD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13161D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</c:v>
                </c:pt>
              </c:strCache>
            </c:strRef>
          </c:tx>
          <c:spPr>
            <a:solidFill>
              <a:srgbClr val="C9A84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E8EAF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2024/0512-LIT</c:v>
                </c:pt>
                <c:pt idx="1">
                  <c:v>2024/0888-LIT</c:v>
                </c:pt>
                <c:pt idx="2">
                  <c:v>2025/0103-COM</c:v>
                </c:pt>
                <c:pt idx="3">
                  <c:v>2025/0217-LAB</c:v>
                </c:pt>
                <c:pt idx="4">
                  <c:v>2025/0391-CON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3.6</c:v>
                </c:pt>
                <c:pt idx="1">
                  <c:v>2.4</c:v>
                </c:pt>
                <c:pt idx="2">
                  <c:v>1.8</c:v>
                </c:pt>
                <c:pt idx="3">
                  <c:v>1.2</c:v>
                </c:pt>
                <c:pt idx="4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1E5-41B1-8003-FDE4FFBBC0F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829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222836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7A8299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13161D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ZA" sz="1000" b="0" i="0" u="none" strike="noStrike">
                <a:solidFill>
                  <a:srgbClr val="000000"/>
                </a:solidFill>
                <a:latin typeface="Arial"/>
              </a:rPr>
              <a:t>Hours Recovered Per Month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Hours Recovered/Month</c:v>
                </c:pt>
              </c:strCache>
            </c:strRef>
          </c:tx>
          <c:spPr>
            <a:solidFill>
              <a:srgbClr val="C9A84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E293B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Email</c:v>
                </c:pt>
                <c:pt idx="1">
                  <c:v>Calls</c:v>
                </c:pt>
                <c:pt idx="2">
                  <c:v>Meetings</c:v>
                </c:pt>
                <c:pt idx="3">
                  <c:v>Docs</c:v>
                </c:pt>
                <c:pt idx="4">
                  <c:v>Research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8.5</c:v>
                </c:pt>
                <c:pt idx="1">
                  <c:v>3.2</c:v>
                </c:pt>
                <c:pt idx="2">
                  <c:v>5.0999999999999996</c:v>
                </c:pt>
                <c:pt idx="3">
                  <c:v>6.8</c:v>
                </c:pt>
                <c:pt idx="4">
                  <c:v>2.4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84-48BA-B244-530802F4DD4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447145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514350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Shape 1"/>
          <p:cNvSpPr/>
          <p:nvPr/>
        </p:nvSpPr>
        <p:spPr>
          <a:xfrm>
            <a:off x="4023360" y="0"/>
            <a:ext cx="45720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" name="Text 2"/>
          <p:cNvSpPr/>
          <p:nvPr/>
        </p:nvSpPr>
        <p:spPr>
          <a:xfrm>
            <a:off x="457200" y="594360"/>
            <a:ext cx="310896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6400" dirty="0">
                <a:solidFill>
                  <a:srgbClr val="C9A84C"/>
                </a:solidFill>
              </a:rPr>
              <a:t>⚖</a:t>
            </a:r>
            <a:endParaRPr lang="en-US" sz="6400" dirty="0"/>
          </a:p>
        </p:txBody>
      </p:sp>
      <p:sp>
        <p:nvSpPr>
          <p:cNvPr id="5" name="Text 3"/>
          <p:cNvSpPr/>
          <p:nvPr/>
        </p:nvSpPr>
        <p:spPr>
          <a:xfrm>
            <a:off x="274320" y="157276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TimeLex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274320" y="22677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kern="0" spc="3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LEGAL TIME CAPTURE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3108960" cy="0"/>
          </a:xfrm>
          <a:prstGeom prst="line">
            <a:avLst/>
          </a:prstGeom>
          <a:noFill/>
          <a:ln w="1270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274320" y="29077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Kone Tshivhinda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274320" y="3163824"/>
            <a:ext cx="34747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Prototype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343400" y="914400"/>
            <a:ext cx="4389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 Motsoeneng Bill Attorneys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343400" y="1371600"/>
            <a:ext cx="4389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E8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Software Engineer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E8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Assessment 2026</a:t>
            </a:r>
            <a:endParaRPr lang="en-US" sz="3000" dirty="0"/>
          </a:p>
        </p:txBody>
      </p:sp>
      <p:sp>
        <p:nvSpPr>
          <p:cNvPr id="12" name="Shape 10"/>
          <p:cNvSpPr/>
          <p:nvPr/>
        </p:nvSpPr>
        <p:spPr>
          <a:xfrm>
            <a:off x="4343400" y="2487168"/>
            <a:ext cx="4389120" cy="0"/>
          </a:xfrm>
          <a:prstGeom prst="line">
            <a:avLst/>
          </a:prstGeom>
          <a:noFill/>
          <a:ln w="1270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Text 11"/>
          <p:cNvSpPr/>
          <p:nvPr/>
        </p:nvSpPr>
        <p:spPr>
          <a:xfrm>
            <a:off x="4343400" y="2697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 Auto-Capture Engine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4343400" y="3108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  Draft &amp; Approve Workflow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343400" y="35204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◫  Invoice Generator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4343400" y="3931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  Analytics Dashboard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343400" y="4663440"/>
            <a:ext cx="4389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Deadline: 7 May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attorneys lose billable time every single day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4315968" cy="3474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65760" y="1243584"/>
            <a:ext cx="47549" cy="347472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66928" y="1408176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Manual Time Capture Trap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" y="1865376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Attorneys reconstruct their full day at end-of-day, or end-of-month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94360" y="2304288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email, call and meeting must be manually typed into Ghost Practice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2743200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is lost, misallocated, or simply forgotten entirely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94360" y="3182112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Inaccurate billing damages client trust and firm revenue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94360" y="3621024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costs R33 925/month — yet input is still 100% manual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94360" y="4059936"/>
            <a:ext cx="3886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Litigation attorneys handle thousands of emails per month alone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956048" y="1243584"/>
            <a:ext cx="1847088" cy="98755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5065776" y="1389888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029200" y="186537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lost/month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(Anchané Botha)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949440" y="1243584"/>
            <a:ext cx="1847088" cy="98755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7059168" y="1389888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R33k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7022592" y="1865376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cost of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956048" y="2377440"/>
            <a:ext cx="1847088" cy="98755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5065776" y="2523744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1000+</a:t>
            </a:r>
            <a:endParaRPr lang="en-US" sz="3000" dirty="0"/>
          </a:p>
        </p:txBody>
      </p:sp>
      <p:sp>
        <p:nvSpPr>
          <p:cNvPr id="22" name="Text 20"/>
          <p:cNvSpPr/>
          <p:nvPr/>
        </p:nvSpPr>
        <p:spPr>
          <a:xfrm>
            <a:off x="5029200" y="2999232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Emails/month in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litigation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6949440" y="2377440"/>
            <a:ext cx="1847088" cy="98755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4" name="Text 22"/>
          <p:cNvSpPr/>
          <p:nvPr/>
        </p:nvSpPr>
        <p:spPr>
          <a:xfrm>
            <a:off x="7059168" y="2523744"/>
            <a:ext cx="1627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~40%</a:t>
            </a:r>
            <a:endParaRPr lang="en-US" sz="3000" dirty="0"/>
          </a:p>
        </p:txBody>
      </p:sp>
      <p:sp>
        <p:nvSpPr>
          <p:cNvPr id="25" name="Text 23"/>
          <p:cNvSpPr/>
          <p:nvPr/>
        </p:nvSpPr>
        <p:spPr>
          <a:xfrm>
            <a:off x="7022592" y="2999232"/>
            <a:ext cx="17007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time lost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reconstruction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956048" y="3511296"/>
            <a:ext cx="3840480" cy="1170432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7" name="Text 25"/>
          <p:cNvSpPr/>
          <p:nvPr/>
        </p:nvSpPr>
        <p:spPr>
          <a:xfrm>
            <a:off x="5138928" y="3621024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"Billing emails is extremely tedious. I lose 2–3 days a month just catching up on fees."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38928" y="429768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Anchané Botha, Survey Respondent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Survey Insights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feature maps directly to a named person's complaint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4251960" cy="11612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7549" cy="1161288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448056" y="1307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8EF0"/>
                </a:solidFill>
              </a:rPr>
              <a:t>✉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86968" y="130759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Stephanie Chetty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86968" y="15453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Associate Partner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886968" y="1755648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Text 9"/>
          <p:cNvSpPr/>
          <p:nvPr/>
        </p:nvSpPr>
        <p:spPr>
          <a:xfrm>
            <a:off x="886968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Email billing tedious — thousands/month in litigation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86968" y="20574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Auto-detect emails, draft entry per email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20040" y="2487168"/>
            <a:ext cx="4251960" cy="11612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Shape 12"/>
          <p:cNvSpPr/>
          <p:nvPr/>
        </p:nvSpPr>
        <p:spPr>
          <a:xfrm>
            <a:off x="320040" y="2487168"/>
            <a:ext cx="47549" cy="1161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448056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A84C"/>
                </a:solidFill>
              </a:rPr>
              <a:t>◫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886968" y="256032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Anchané Botha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86968" y="279806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886968" y="3008376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Text 17"/>
          <p:cNvSpPr/>
          <p:nvPr/>
        </p:nvSpPr>
        <p:spPr>
          <a:xfrm>
            <a:off x="886968" y="30540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Loses 2-3 days/month on fees, can't generate own invoices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886968" y="331012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Continuous capture + self-service invoice view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3739896"/>
            <a:ext cx="4251960" cy="11612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2" name="Shape 20"/>
          <p:cNvSpPr/>
          <p:nvPr/>
        </p:nvSpPr>
        <p:spPr>
          <a:xfrm>
            <a:off x="320040" y="3739896"/>
            <a:ext cx="47549" cy="116128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448056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CAF82"/>
                </a:solidFill>
              </a:rPr>
              <a:t>◈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886968" y="38130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Lerato Motlhabi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86968" y="405079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Paralegal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86968" y="4261104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Text 25"/>
          <p:cNvSpPr/>
          <p:nvPr/>
        </p:nvSpPr>
        <p:spPr>
          <a:xfrm>
            <a:off x="886968" y="43068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Wants real-time tracking of hours vs monthly targets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86968" y="456285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Live dashboard with billing target progress bar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82312" y="1234440"/>
            <a:ext cx="4251960" cy="11612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0" name="Shape 28"/>
          <p:cNvSpPr/>
          <p:nvPr/>
        </p:nvSpPr>
        <p:spPr>
          <a:xfrm>
            <a:off x="4782312" y="1234440"/>
            <a:ext cx="47549" cy="116128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4910328" y="13075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C9A84C"/>
                </a:solidFill>
              </a:rPr>
              <a:t>⏰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5349240" y="1307592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Johan Biggs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349240" y="1545336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349240" y="1755648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5349240" y="180136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System should remind attorneys to post fees daily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349240" y="205740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In-app idle reminders + real-time stats panel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82312" y="2487168"/>
            <a:ext cx="4251960" cy="11612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8" name="Shape 36"/>
          <p:cNvSpPr/>
          <p:nvPr/>
        </p:nvSpPr>
        <p:spPr>
          <a:xfrm>
            <a:off x="4782312" y="2487168"/>
            <a:ext cx="47549" cy="1161288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4910328" y="2560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5B8EF0"/>
                </a:solidFill>
              </a:rPr>
              <a:t>◎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5349240" y="2560320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Noluthando Matshata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349240" y="2798064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349240" y="3008376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Text 41"/>
          <p:cNvSpPr/>
          <p:nvPr/>
        </p:nvSpPr>
        <p:spPr>
          <a:xfrm>
            <a:off x="5349240" y="305409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Duplicate effort — captured once, then again for billing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349240" y="331012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One-click approval replaces full manual re-entry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782312" y="3739896"/>
            <a:ext cx="4251960" cy="11612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6" name="Shape 44"/>
          <p:cNvSpPr/>
          <p:nvPr/>
        </p:nvSpPr>
        <p:spPr>
          <a:xfrm>
            <a:off x="4782312" y="3739896"/>
            <a:ext cx="47549" cy="1161288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Text 45"/>
          <p:cNvSpPr/>
          <p:nvPr/>
        </p:nvSpPr>
        <p:spPr>
          <a:xfrm>
            <a:off x="4910328" y="38130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4CAF82"/>
                </a:solidFill>
              </a:rPr>
              <a:t>★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5349240" y="38130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Tony Tshivahse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5349240" y="4050792"/>
            <a:ext cx="3474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349240" y="4261104"/>
            <a:ext cx="3474720" cy="0"/>
          </a:xfrm>
          <a:prstGeom prst="line">
            <a:avLst/>
          </a:prstGeom>
          <a:noFill/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1" name="Text 49"/>
          <p:cNvSpPr/>
          <p:nvPr/>
        </p:nvSpPr>
        <p:spPr>
          <a:xfrm>
            <a:off x="5349240" y="4306824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Pain: Ghost Practice is not user friendly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349240" y="4562856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Clean UI, keyboard shortcuts, review not retype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3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1 — Existing Tools Research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evaluation: strengths, weaknesses &amp; applicability to MB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07008"/>
            <a:ext cx="1463040" cy="329184"/>
          </a:xfrm>
          <a:prstGeom prst="rect">
            <a:avLst/>
          </a:prstGeom>
          <a:solidFill>
            <a:srgbClr val="1E2335"/>
          </a:solidFill>
          <a:ln w="12700">
            <a:solidFill>
              <a:srgbClr val="1E2335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393192" y="1207008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1783080" y="1207008"/>
            <a:ext cx="2606040" cy="329184"/>
          </a:xfrm>
          <a:prstGeom prst="rect">
            <a:avLst/>
          </a:prstGeom>
          <a:solidFill>
            <a:srgbClr val="1E2335"/>
          </a:solidFill>
          <a:ln w="12700">
            <a:solidFill>
              <a:srgbClr val="1E2335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1856232" y="120700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Strength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389120" y="1207008"/>
            <a:ext cx="2606040" cy="329184"/>
          </a:xfrm>
          <a:prstGeom prst="rect">
            <a:avLst/>
          </a:prstGeom>
          <a:solidFill>
            <a:srgbClr val="1E2335"/>
          </a:solidFill>
          <a:ln w="12700">
            <a:solidFill>
              <a:srgbClr val="1E2335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4462272" y="1207008"/>
            <a:ext cx="2514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Weakness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995160" y="1207008"/>
            <a:ext cx="822960" cy="329184"/>
          </a:xfrm>
          <a:prstGeom prst="rect">
            <a:avLst/>
          </a:prstGeom>
          <a:solidFill>
            <a:srgbClr val="1E2335"/>
          </a:solidFill>
          <a:ln w="12700">
            <a:solidFill>
              <a:srgbClr val="1E2335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7068312" y="1207008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1536192"/>
            <a:ext cx="14630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Shape 12"/>
          <p:cNvSpPr/>
          <p:nvPr/>
        </p:nvSpPr>
        <p:spPr>
          <a:xfrm>
            <a:off x="1783080" y="1536192"/>
            <a:ext cx="26060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Shape 13"/>
          <p:cNvSpPr/>
          <p:nvPr/>
        </p:nvSpPr>
        <p:spPr>
          <a:xfrm>
            <a:off x="4389120" y="1536192"/>
            <a:ext cx="26060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Shape 14"/>
          <p:cNvSpPr/>
          <p:nvPr/>
        </p:nvSpPr>
        <p:spPr>
          <a:xfrm>
            <a:off x="6995160" y="1536192"/>
            <a:ext cx="8229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Text 15"/>
          <p:cNvSpPr/>
          <p:nvPr/>
        </p:nvSpPr>
        <p:spPr>
          <a:xfrm>
            <a:off x="393192" y="153619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Toggl Track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856232" y="153619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Simple intuitive UI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462272" y="153619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legal integrations, no matter system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104888" y="1627632"/>
            <a:ext cx="594360" cy="310896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7104888" y="1627632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0040" y="2066544"/>
            <a:ext cx="1463040" cy="493776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Shape 21"/>
          <p:cNvSpPr/>
          <p:nvPr/>
        </p:nvSpPr>
        <p:spPr>
          <a:xfrm>
            <a:off x="1783080" y="2066544"/>
            <a:ext cx="2606040" cy="493776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Shape 22"/>
          <p:cNvSpPr/>
          <p:nvPr/>
        </p:nvSpPr>
        <p:spPr>
          <a:xfrm>
            <a:off x="4389120" y="2066544"/>
            <a:ext cx="2606040" cy="493776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Shape 23"/>
          <p:cNvSpPr/>
          <p:nvPr/>
        </p:nvSpPr>
        <p:spPr>
          <a:xfrm>
            <a:off x="6995160" y="2066544"/>
            <a:ext cx="822960" cy="493776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393192" y="2066544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Clio Manage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856232" y="2066544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legal PMS, time + billing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462272" y="2066544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Expensive, not GP-integrated, overseas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7104888" y="2157984"/>
            <a:ext cx="594360" cy="310896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Text 28"/>
          <p:cNvSpPr/>
          <p:nvPr/>
        </p:nvSpPr>
        <p:spPr>
          <a:xfrm>
            <a:off x="7104888" y="2157984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2596896"/>
            <a:ext cx="14630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Shape 30"/>
          <p:cNvSpPr/>
          <p:nvPr/>
        </p:nvSpPr>
        <p:spPr>
          <a:xfrm>
            <a:off x="1783080" y="2596896"/>
            <a:ext cx="26060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Shape 31"/>
          <p:cNvSpPr/>
          <p:nvPr/>
        </p:nvSpPr>
        <p:spPr>
          <a:xfrm>
            <a:off x="4389120" y="2596896"/>
            <a:ext cx="26060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6995160" y="2596896"/>
            <a:ext cx="8229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393192" y="2596896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TimeSolv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856232" y="2596896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Legal-specific time tracking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462272" y="2596896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US-focused, no SA GP integration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7104888" y="2688336"/>
            <a:ext cx="594360" cy="310896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7104888" y="2688336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320040" y="3127248"/>
            <a:ext cx="1463040" cy="493776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Shape 39"/>
          <p:cNvSpPr/>
          <p:nvPr/>
        </p:nvSpPr>
        <p:spPr>
          <a:xfrm>
            <a:off x="1783080" y="3127248"/>
            <a:ext cx="2606040" cy="493776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Shape 40"/>
          <p:cNvSpPr/>
          <p:nvPr/>
        </p:nvSpPr>
        <p:spPr>
          <a:xfrm>
            <a:off x="4389120" y="3127248"/>
            <a:ext cx="2606040" cy="493776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Shape 41"/>
          <p:cNvSpPr/>
          <p:nvPr/>
        </p:nvSpPr>
        <p:spPr>
          <a:xfrm>
            <a:off x="6995160" y="3127248"/>
            <a:ext cx="822960" cy="493776"/>
          </a:xfrm>
          <a:prstGeom prst="rect">
            <a:avLst/>
          </a:prstGeom>
          <a:solidFill>
            <a:srgbClr val="F4F6F9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Text 42"/>
          <p:cNvSpPr/>
          <p:nvPr/>
        </p:nvSpPr>
        <p:spPr>
          <a:xfrm>
            <a:off x="393192" y="3127248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Harvest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1856232" y="3127248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UX, Outlook add-in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4462272" y="3127248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Generic, no matter classification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7104888" y="3218688"/>
            <a:ext cx="594360" cy="310896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Text 46"/>
          <p:cNvSpPr/>
          <p:nvPr/>
        </p:nvSpPr>
        <p:spPr>
          <a:xfrm>
            <a:off x="7104888" y="3218688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320040" y="3657600"/>
            <a:ext cx="14630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Shape 48"/>
          <p:cNvSpPr/>
          <p:nvPr/>
        </p:nvSpPr>
        <p:spPr>
          <a:xfrm>
            <a:off x="1783080" y="3657600"/>
            <a:ext cx="26060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1" name="Shape 49"/>
          <p:cNvSpPr/>
          <p:nvPr/>
        </p:nvSpPr>
        <p:spPr>
          <a:xfrm>
            <a:off x="4389120" y="3657600"/>
            <a:ext cx="260604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2" name="Shape 50"/>
          <p:cNvSpPr/>
          <p:nvPr/>
        </p:nvSpPr>
        <p:spPr>
          <a:xfrm>
            <a:off x="6995160" y="3657600"/>
            <a:ext cx="822960" cy="493776"/>
          </a:xfrm>
          <a:prstGeom prst="rect">
            <a:avLst/>
          </a:prstGeom>
          <a:solidFill>
            <a:srgbClr val="FFFFFF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3" name="Text 51"/>
          <p:cNvSpPr/>
          <p:nvPr/>
        </p:nvSpPr>
        <p:spPr>
          <a:xfrm>
            <a:off x="393192" y="3657600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1856232" y="3657600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MB integration, in use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4462272" y="3657600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Purely manual — zero auto-capture</a:t>
            </a:r>
            <a:endParaRPr lang="en-US" sz="1000" dirty="0"/>
          </a:p>
        </p:txBody>
      </p:sp>
      <p:sp>
        <p:nvSpPr>
          <p:cNvPr id="56" name="Shape 54"/>
          <p:cNvSpPr/>
          <p:nvPr/>
        </p:nvSpPr>
        <p:spPr>
          <a:xfrm>
            <a:off x="7104888" y="3749040"/>
            <a:ext cx="594360" cy="310896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7" name="Text 55"/>
          <p:cNvSpPr/>
          <p:nvPr/>
        </p:nvSpPr>
        <p:spPr>
          <a:xfrm>
            <a:off x="7104888" y="3749040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endParaRPr lang="en-US" sz="1000" dirty="0"/>
          </a:p>
        </p:txBody>
      </p:sp>
      <p:sp>
        <p:nvSpPr>
          <p:cNvPr id="58" name="Shape 56"/>
          <p:cNvSpPr/>
          <p:nvPr/>
        </p:nvSpPr>
        <p:spPr>
          <a:xfrm>
            <a:off x="320040" y="4187952"/>
            <a:ext cx="1463040" cy="493776"/>
          </a:xfrm>
          <a:prstGeom prst="rect">
            <a:avLst/>
          </a:prstGeom>
          <a:solidFill>
            <a:srgbClr val="EAF7F1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9" name="Shape 57"/>
          <p:cNvSpPr/>
          <p:nvPr/>
        </p:nvSpPr>
        <p:spPr>
          <a:xfrm>
            <a:off x="1783080" y="4187952"/>
            <a:ext cx="2606040" cy="493776"/>
          </a:xfrm>
          <a:prstGeom prst="rect">
            <a:avLst/>
          </a:prstGeom>
          <a:solidFill>
            <a:srgbClr val="EAF7F1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0" name="Shape 58"/>
          <p:cNvSpPr/>
          <p:nvPr/>
        </p:nvSpPr>
        <p:spPr>
          <a:xfrm>
            <a:off x="4389120" y="4187952"/>
            <a:ext cx="2606040" cy="493776"/>
          </a:xfrm>
          <a:prstGeom prst="rect">
            <a:avLst/>
          </a:prstGeom>
          <a:solidFill>
            <a:srgbClr val="EAF7F1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1" name="Shape 59"/>
          <p:cNvSpPr/>
          <p:nvPr/>
        </p:nvSpPr>
        <p:spPr>
          <a:xfrm>
            <a:off x="6995160" y="4187952"/>
            <a:ext cx="822960" cy="493776"/>
          </a:xfrm>
          <a:prstGeom prst="rect">
            <a:avLst/>
          </a:prstGeom>
          <a:solidFill>
            <a:srgbClr val="EAF7F1"/>
          </a:solidFill>
          <a:ln w="6350">
            <a:solidFill>
              <a:srgbClr val="D8DC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2" name="Text 60"/>
          <p:cNvSpPr/>
          <p:nvPr/>
        </p:nvSpPr>
        <p:spPr>
          <a:xfrm>
            <a:off x="393192" y="4187952"/>
            <a:ext cx="1371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(ours)</a:t>
            </a:r>
            <a:endParaRPr lang="en-US" sz="1100" dirty="0"/>
          </a:p>
        </p:txBody>
      </p:sp>
      <p:sp>
        <p:nvSpPr>
          <p:cNvPr id="63" name="Text 61"/>
          <p:cNvSpPr/>
          <p:nvPr/>
        </p:nvSpPr>
        <p:spPr>
          <a:xfrm>
            <a:off x="1856232" y="418795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Auto-capture + GP integration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4462272" y="4187952"/>
            <a:ext cx="25146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— needs production build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7104888" y="4279392"/>
            <a:ext cx="594360" cy="310896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6" name="Text 64"/>
          <p:cNvSpPr/>
          <p:nvPr/>
        </p:nvSpPr>
        <p:spPr>
          <a:xfrm>
            <a:off x="7104888" y="4279392"/>
            <a:ext cx="594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320040" y="4754880"/>
            <a:ext cx="8503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Conclusion: No existing tool auto-captures activity AND integrates natively with Ghost Practice. That is exactly the gap TimeLex fills.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2 — Proposed Solution: TimeLex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→ classify → draft → approve → bill. Zero re-typing.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1481328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5B8E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1481328" cy="100584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320040" y="13350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627632"/>
            <a:ext cx="1481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5B8EF0"/>
                </a:solidFill>
              </a:rPr>
              <a:t>◉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74904" y="21396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Detection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93192" y="2450592"/>
            <a:ext cx="13350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/ Teams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1801368" y="2377440"/>
            <a:ext cx="10058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1760220" y="2267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A84C"/>
                </a:solidFill>
              </a:rPr>
              <a:t>›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901952" y="1234440"/>
            <a:ext cx="1481328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C9A84C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Shape 12"/>
          <p:cNvSpPr/>
          <p:nvPr/>
        </p:nvSpPr>
        <p:spPr>
          <a:xfrm>
            <a:off x="1901952" y="1234440"/>
            <a:ext cx="1481328" cy="10058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1901952" y="13350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01952" y="1627632"/>
            <a:ext cx="1481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C9A84C"/>
                </a:solidFill>
              </a:rPr>
              <a:t>◎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1956816" y="21396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Classification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1975104" y="2450592"/>
            <a:ext cx="13350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classifies type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 predicts matter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383280" y="2377440"/>
            <a:ext cx="10058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Text 18"/>
          <p:cNvSpPr/>
          <p:nvPr/>
        </p:nvSpPr>
        <p:spPr>
          <a:xfrm>
            <a:off x="3342132" y="2267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A84C"/>
                </a:solidFill>
              </a:rPr>
              <a:t>›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483864" y="1234440"/>
            <a:ext cx="1481328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E08A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2" name="Shape 20"/>
          <p:cNvSpPr/>
          <p:nvPr/>
        </p:nvSpPr>
        <p:spPr>
          <a:xfrm>
            <a:off x="3483864" y="1234440"/>
            <a:ext cx="1481328" cy="100584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3483864" y="13350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483864" y="1627632"/>
            <a:ext cx="1481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E08A3C"/>
                </a:solidFill>
              </a:rPr>
              <a:t>◈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3538728" y="21396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Generation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3557016" y="2450592"/>
            <a:ext cx="13350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entry created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narration + units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965192" y="2377440"/>
            <a:ext cx="10058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Text 26"/>
          <p:cNvSpPr/>
          <p:nvPr/>
        </p:nvSpPr>
        <p:spPr>
          <a:xfrm>
            <a:off x="4924044" y="2267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A84C"/>
                </a:solidFill>
              </a:rPr>
              <a:t>›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5065776" y="1234440"/>
            <a:ext cx="1481328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4CAF82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0" name="Shape 28"/>
          <p:cNvSpPr/>
          <p:nvPr/>
        </p:nvSpPr>
        <p:spPr>
          <a:xfrm>
            <a:off x="5065776" y="1234440"/>
            <a:ext cx="1481328" cy="100584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5065776" y="13350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065776" y="1627632"/>
            <a:ext cx="1481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4CAF82"/>
                </a:solidFill>
              </a:rPr>
              <a:t>✓</a:t>
            </a:r>
            <a:endParaRPr lang="en-US" sz="2800" dirty="0"/>
          </a:p>
        </p:txBody>
      </p:sp>
      <p:sp>
        <p:nvSpPr>
          <p:cNvPr id="33" name="Text 31"/>
          <p:cNvSpPr/>
          <p:nvPr/>
        </p:nvSpPr>
        <p:spPr>
          <a:xfrm>
            <a:off x="5120640" y="21396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138928" y="2450592"/>
            <a:ext cx="13350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approves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one click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47104" y="2377440"/>
            <a:ext cx="100584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Text 34"/>
          <p:cNvSpPr/>
          <p:nvPr/>
        </p:nvSpPr>
        <p:spPr>
          <a:xfrm>
            <a:off x="6505956" y="2267712"/>
            <a:ext cx="182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C9A84C"/>
                </a:solidFill>
              </a:rPr>
              <a:t>›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647688" y="1234440"/>
            <a:ext cx="1481328" cy="2286000"/>
          </a:xfrm>
          <a:prstGeom prst="rect">
            <a:avLst/>
          </a:prstGeom>
          <a:solidFill>
            <a:srgbClr val="13161D"/>
          </a:solidFill>
          <a:ln w="19050">
            <a:solidFill>
              <a:srgbClr val="C9A84C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8" name="Shape 36"/>
          <p:cNvSpPr/>
          <p:nvPr/>
        </p:nvSpPr>
        <p:spPr>
          <a:xfrm>
            <a:off x="6647688" y="1234440"/>
            <a:ext cx="1481328" cy="10058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6647688" y="1335024"/>
            <a:ext cx="14813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6647688" y="1627632"/>
            <a:ext cx="1481328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C9A84C"/>
                </a:solidFill>
              </a:rPr>
              <a:t>◫</a:t>
            </a:r>
            <a:endParaRPr lang="en-US" sz="2800" dirty="0"/>
          </a:p>
        </p:txBody>
      </p:sp>
      <p:sp>
        <p:nvSpPr>
          <p:cNvPr id="41" name="Text 39"/>
          <p:cNvSpPr/>
          <p:nvPr/>
        </p:nvSpPr>
        <p:spPr>
          <a:xfrm>
            <a:off x="6702552" y="2139696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Billing Output</a:t>
            </a:r>
            <a:endParaRPr lang="en-US" sz="1050" dirty="0"/>
          </a:p>
        </p:txBody>
      </p:sp>
      <p:sp>
        <p:nvSpPr>
          <p:cNvPr id="42" name="Text 40"/>
          <p:cNvSpPr/>
          <p:nvPr/>
        </p:nvSpPr>
        <p:spPr>
          <a:xfrm>
            <a:off x="6720840" y="2450592"/>
            <a:ext cx="13350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sync +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output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320040" y="3694176"/>
            <a:ext cx="2066544" cy="1188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4" name="Text 42"/>
          <p:cNvSpPr/>
          <p:nvPr/>
        </p:nvSpPr>
        <p:spPr>
          <a:xfrm>
            <a:off x="448056" y="378561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re-typing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48056" y="4078224"/>
            <a:ext cx="1810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approves, never re-enters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2496312" y="3694176"/>
            <a:ext cx="2066544" cy="1188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7" name="Text 45"/>
          <p:cNvSpPr/>
          <p:nvPr/>
        </p:nvSpPr>
        <p:spPr>
          <a:xfrm>
            <a:off x="2624328" y="378561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6-min accuracy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2624328" y="4078224"/>
            <a:ext cx="1810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legal billing precision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672584" y="3694176"/>
            <a:ext cx="2066544" cy="1188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50" name="Text 48"/>
          <p:cNvSpPr/>
          <p:nvPr/>
        </p:nvSpPr>
        <p:spPr>
          <a:xfrm>
            <a:off x="4800600" y="378561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GP-ready output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800600" y="4078224"/>
            <a:ext cx="1810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for Ghost Practice API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6848856" y="3694176"/>
            <a:ext cx="2066544" cy="11887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53" name="Text 51"/>
          <p:cNvSpPr/>
          <p:nvPr/>
        </p:nvSpPr>
        <p:spPr>
          <a:xfrm>
            <a:off x="6976872" y="3785616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Self-service invoices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6976872" y="4078224"/>
            <a:ext cx="18105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secretary required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1 — Auto-Capture Engine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capture-engine.js · 7 integration classes · simulates real-time activity detection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07008"/>
            <a:ext cx="1572768" cy="347472"/>
          </a:xfrm>
          <a:prstGeom prst="rect">
            <a:avLst/>
          </a:prstGeom>
          <a:solidFill>
            <a:srgbClr val="0D2E1F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420624" y="12070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Outlook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2084832" y="1207008"/>
            <a:ext cx="1572768" cy="347472"/>
          </a:xfrm>
          <a:prstGeom prst="rect">
            <a:avLst/>
          </a:prstGeom>
          <a:solidFill>
            <a:srgbClr val="0D2E1F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2139696" y="12070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Calendar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803904" y="1207008"/>
            <a:ext cx="1572768" cy="347472"/>
          </a:xfrm>
          <a:prstGeom prst="rect">
            <a:avLst/>
          </a:prstGeom>
          <a:solidFill>
            <a:srgbClr val="0D2E1F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3858768" y="12070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📄  Word / Docs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522976" y="1207008"/>
            <a:ext cx="1572768" cy="34747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5577840" y="12070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📞  Teams / Calls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7242048" y="1207008"/>
            <a:ext cx="1572768" cy="347472"/>
          </a:xfrm>
          <a:prstGeom prst="rect">
            <a:avLst/>
          </a:prstGeom>
          <a:solidFill>
            <a:srgbClr val="0D2E1F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7296912" y="12070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Ghost Practice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65760" y="1737360"/>
            <a:ext cx="4114800" cy="54864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6" name="Shape 14"/>
          <p:cNvSpPr/>
          <p:nvPr/>
        </p:nvSpPr>
        <p:spPr>
          <a:xfrm>
            <a:off x="365760" y="1737360"/>
            <a:ext cx="47549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512064" y="1828800"/>
            <a:ext cx="347472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512064" y="18288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8EF0"/>
                </a:solidFill>
              </a:rPr>
              <a:t>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960120" y="180136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60120" y="203911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Subject, sender, thread detected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273552" y="1828800"/>
            <a:ext cx="1005840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3273552" y="1828800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1–2 units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365760" y="2340864"/>
            <a:ext cx="4114800" cy="54864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4" name="Shape 22"/>
          <p:cNvSpPr/>
          <p:nvPr/>
        </p:nvSpPr>
        <p:spPr>
          <a:xfrm>
            <a:off x="365760" y="2340864"/>
            <a:ext cx="47549" cy="54864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Shape 23"/>
          <p:cNvSpPr/>
          <p:nvPr/>
        </p:nvSpPr>
        <p:spPr>
          <a:xfrm>
            <a:off x="512064" y="2432304"/>
            <a:ext cx="347472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512064" y="24323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4CAF82"/>
                </a:solidFill>
              </a:rPr>
              <a:t>📅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960120" y="24048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60120" y="264261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from calendar event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273552" y="2432304"/>
            <a:ext cx="1005840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Text 28"/>
          <p:cNvSpPr/>
          <p:nvPr/>
        </p:nvSpPr>
        <p:spPr>
          <a:xfrm>
            <a:off x="3273552" y="2432304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5–10 units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365760" y="2944368"/>
            <a:ext cx="4114800" cy="54864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2" name="Shape 30"/>
          <p:cNvSpPr/>
          <p:nvPr/>
        </p:nvSpPr>
        <p:spPr>
          <a:xfrm>
            <a:off x="365760" y="2944368"/>
            <a:ext cx="47549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Shape 31"/>
          <p:cNvSpPr/>
          <p:nvPr/>
        </p:nvSpPr>
        <p:spPr>
          <a:xfrm>
            <a:off x="512064" y="3035808"/>
            <a:ext cx="347472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Text 32"/>
          <p:cNvSpPr/>
          <p:nvPr/>
        </p:nvSpPr>
        <p:spPr>
          <a:xfrm>
            <a:off x="512064" y="3035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5B8EF0"/>
                </a:solidFill>
              </a:rPr>
              <a:t>📄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960120" y="3008376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960120" y="324612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open/edit time tracked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3273552" y="3035808"/>
            <a:ext cx="1005840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Text 36"/>
          <p:cNvSpPr/>
          <p:nvPr/>
        </p:nvSpPr>
        <p:spPr>
          <a:xfrm>
            <a:off x="3273552" y="30358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3–8 units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65760" y="3547872"/>
            <a:ext cx="4114800" cy="54864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0" name="Shape 38"/>
          <p:cNvSpPr/>
          <p:nvPr/>
        </p:nvSpPr>
        <p:spPr>
          <a:xfrm>
            <a:off x="365760" y="3547872"/>
            <a:ext cx="47549" cy="548640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Shape 39"/>
          <p:cNvSpPr/>
          <p:nvPr/>
        </p:nvSpPr>
        <p:spPr>
          <a:xfrm>
            <a:off x="512064" y="3639312"/>
            <a:ext cx="347472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Text 40"/>
          <p:cNvSpPr/>
          <p:nvPr/>
        </p:nvSpPr>
        <p:spPr>
          <a:xfrm>
            <a:off x="512064" y="363931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E08A3C"/>
                </a:solidFill>
              </a:rPr>
              <a:t>📞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960120" y="361188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960120" y="384962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duration from Teams/Zoom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3273552" y="3639312"/>
            <a:ext cx="1005840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Text 44"/>
          <p:cNvSpPr/>
          <p:nvPr/>
        </p:nvSpPr>
        <p:spPr>
          <a:xfrm>
            <a:off x="3273552" y="3639312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1–3 units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365760" y="4151376"/>
            <a:ext cx="4114800" cy="54864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8" name="Shape 46"/>
          <p:cNvSpPr/>
          <p:nvPr/>
        </p:nvSpPr>
        <p:spPr>
          <a:xfrm>
            <a:off x="365760" y="4151376"/>
            <a:ext cx="47549" cy="5486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Shape 47"/>
          <p:cNvSpPr/>
          <p:nvPr/>
        </p:nvSpPr>
        <p:spPr>
          <a:xfrm>
            <a:off x="512064" y="4242816"/>
            <a:ext cx="347472" cy="347472"/>
          </a:xfrm>
          <a:prstGeom prst="rect">
            <a:avLst/>
          </a:prstGeom>
          <a:solidFill>
            <a:srgbClr val="000000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0" name="Text 48"/>
          <p:cNvSpPr/>
          <p:nvPr/>
        </p:nvSpPr>
        <p:spPr>
          <a:xfrm>
            <a:off x="512064" y="424281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C9A84C"/>
                </a:solidFill>
              </a:rPr>
              <a:t>🔍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960120" y="421538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960120" y="445312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 activity monitored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3273552" y="4242816"/>
            <a:ext cx="1005840" cy="329184"/>
          </a:xfrm>
          <a:prstGeom prst="rect">
            <a:avLst/>
          </a:prstGeom>
          <a:solidFill>
            <a:srgbClr val="000000"/>
          </a:solidFill>
          <a:ln w="63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Text 52"/>
          <p:cNvSpPr/>
          <p:nvPr/>
        </p:nvSpPr>
        <p:spPr>
          <a:xfrm>
            <a:off x="3273552" y="4242816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units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4709160" y="1801368"/>
            <a:ext cx="4114800" cy="2990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56" name="Text 54"/>
          <p:cNvSpPr/>
          <p:nvPr/>
        </p:nvSpPr>
        <p:spPr>
          <a:xfrm>
            <a:off x="4818888" y="1508760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How the Engine Works</a:t>
            </a:r>
            <a:endParaRPr lang="en-US" sz="1400" dirty="0"/>
          </a:p>
        </p:txBody>
      </p:sp>
      <p:sp>
        <p:nvSpPr>
          <p:cNvPr id="57" name="Text 55"/>
          <p:cNvSpPr/>
          <p:nvPr/>
        </p:nvSpPr>
        <p:spPr>
          <a:xfrm>
            <a:off x="4892040" y="182880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Poll integrations</a:t>
            </a:r>
            <a:endParaRPr lang="en-US" sz="1100" dirty="0"/>
          </a:p>
        </p:txBody>
      </p:sp>
      <p:sp>
        <p:nvSpPr>
          <p:cNvPr id="58" name="Text 56"/>
          <p:cNvSpPr/>
          <p:nvPr/>
        </p:nvSpPr>
        <p:spPr>
          <a:xfrm>
            <a:off x="4892040" y="206654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source polled every 8–15 sec (prototype). Production uses real-time Microsoft Graph webhooks — entry appears the moment an activity ends.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4892040" y="256032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Classify activity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4892040" y="279806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determined by source. Matter matched via keyword rules (e.g. 'Nkosi' → 2024/0512-LIT) and title pattern extraction.</a:t>
            </a:r>
            <a:endParaRPr lang="en-US" sz="950" dirty="0"/>
          </a:p>
        </p:txBody>
      </p:sp>
      <p:sp>
        <p:nvSpPr>
          <p:cNvPr id="61" name="Text 59"/>
          <p:cNvSpPr/>
          <p:nvPr/>
        </p:nvSpPr>
        <p:spPr>
          <a:xfrm>
            <a:off x="4892040" y="329184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Calculate units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892040" y="352958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 converted to 6-minute billing increments, always rounded up — the legal industry standard.</a:t>
            </a:r>
            <a:endParaRPr lang="en-US" sz="950" dirty="0"/>
          </a:p>
        </p:txBody>
      </p:sp>
      <p:sp>
        <p:nvSpPr>
          <p:cNvPr id="63" name="Text 61"/>
          <p:cNvSpPr/>
          <p:nvPr/>
        </p:nvSpPr>
        <p:spPr>
          <a:xfrm>
            <a:off x="4892040" y="4023360"/>
            <a:ext cx="37033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Generate narration</a:t>
            </a:r>
            <a:endParaRPr lang="en-US" sz="1100" dirty="0"/>
          </a:p>
        </p:txBody>
      </p:sp>
      <p:sp>
        <p:nvSpPr>
          <p:cNvPr id="64" name="Text 62"/>
          <p:cNvSpPr/>
          <p:nvPr/>
        </p:nvSpPr>
        <p:spPr>
          <a:xfrm>
            <a:off x="4892040" y="4261104"/>
            <a:ext cx="37033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auto-written from metadata. Attorney corrects if needed — never re-types from scratch.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2 — Draft &amp; Approve Workflow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UX shift: attorney reviews, never re-types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977640" cy="356616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3977640" cy="329184"/>
          </a:xfrm>
          <a:prstGeom prst="rect">
            <a:avLst/>
          </a:prstGeom>
          <a:solidFill>
            <a:srgbClr val="000000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3703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 BEFORE  (Ghost Practice today)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682496"/>
            <a:ext cx="3611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finishes a full day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02920" y="2039112"/>
            <a:ext cx="3611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Ghost Practice → New Time Entry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2395728"/>
            <a:ext cx="3611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Tries to remember: what did I do?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02920" y="2752344"/>
            <a:ext cx="3611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narration from memory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02920" y="3108960"/>
            <a:ext cx="3611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Looks up matter number manually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502920" y="3465576"/>
            <a:ext cx="3611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Calculates time in 6-min units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02920" y="3822192"/>
            <a:ext cx="3611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Repeats for EVERY email, call, meeting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02920" y="4178808"/>
            <a:ext cx="36118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1–3 hours after a long day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572000" y="1234440"/>
            <a:ext cx="4251960" cy="356616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4572000" y="1234440"/>
            <a:ext cx="4251960" cy="32918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4709160" y="1234440"/>
            <a:ext cx="3931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AFTER  (TimeLex)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36592" y="1682496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detects every activity automatically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4736592" y="2039112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entry created instantly — narration written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4736592" y="2395728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 sees inbox of pending drafts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736592" y="2752344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Assigns matter number (autocomplete list)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4736592" y="3108960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Clicks ✓ Approve — done in one click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4736592" y="3465576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adjusts narration in-line if needed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4736592" y="3822192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"Approve All" clears the full day at once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4736592" y="4178808"/>
            <a:ext cx="384048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 process: under 5 minutes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4206240" y="28346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dirty="0">
                <a:solidFill>
                  <a:srgbClr val="C9A84C"/>
                </a:solidFill>
              </a:rPr>
              <a:t>→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3 — Live Dashboard &amp; Target Tracking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by Lerato Motlhabi, Johan Biggs &amp; Anchané Botha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066544" cy="107899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429768" y="13167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Billable Hours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9768" y="15179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2.8 h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29768" y="19751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 units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96312" y="1234440"/>
            <a:ext cx="2066544" cy="107899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2606040" y="13167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to Date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606040" y="15179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50.6 h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606040" y="19751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150 h target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672584" y="1234440"/>
            <a:ext cx="2066544" cy="107899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4782312" y="13167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 Review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782312" y="15179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4782312" y="19751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entries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848856" y="1234440"/>
            <a:ext cx="2066544" cy="1078992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958584" y="131673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Matters Active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58584" y="151790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2800" dirty="0"/>
          </a:p>
        </p:txBody>
      </p:sp>
      <p:sp>
        <p:nvSpPr>
          <p:cNvPr id="20" name="Text 18"/>
          <p:cNvSpPr/>
          <p:nvPr/>
        </p:nvSpPr>
        <p:spPr>
          <a:xfrm>
            <a:off x="6958584" y="1975104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0040" y="2487168"/>
            <a:ext cx="8503920" cy="84124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502920" y="256032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Billing Target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156448" y="2560320"/>
            <a:ext cx="5029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33.7%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502920" y="2889504"/>
            <a:ext cx="8092440" cy="201168"/>
          </a:xfrm>
          <a:prstGeom prst="rect">
            <a:avLst/>
          </a:prstGeom>
          <a:solidFill>
            <a:srgbClr val="222836"/>
          </a:solidFill>
          <a:ln w="1270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Shape 23"/>
          <p:cNvSpPr/>
          <p:nvPr/>
        </p:nvSpPr>
        <p:spPr>
          <a:xfrm>
            <a:off x="502920" y="2889504"/>
            <a:ext cx="2727152" cy="201168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6" name="Text 24"/>
          <p:cNvSpPr/>
          <p:nvPr/>
        </p:nvSpPr>
        <p:spPr>
          <a:xfrm>
            <a:off x="502920" y="312724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50.6 h billed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486400" y="3127248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150 h target  ·  99.4 h remaining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320040" y="3511296"/>
            <a:ext cx="4224528" cy="13898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502920" y="3584448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Activity Feed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" y="3913632"/>
            <a:ext cx="4005072" cy="402336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530352" y="39684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8EF0"/>
                </a:solidFill>
              </a:rPr>
              <a:t>✉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86968" y="395935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Re: Discovery — Nkosi v Absa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86968" y="4133088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· 1 unit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11480" y="4370832"/>
            <a:ext cx="4005072" cy="402336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530352" y="442569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5B8EF0"/>
                </a:solidFill>
              </a:rPr>
              <a:t>📄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886968" y="4416552"/>
            <a:ext cx="2651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founding affidavit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886968" y="4590288"/>
            <a:ext cx="26517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· 5 units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663440" y="3511296"/>
            <a:ext cx="4160520" cy="13898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4846320" y="358444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Entries  (pending review)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73168" y="3913632"/>
            <a:ext cx="3895344" cy="804672"/>
          </a:xfrm>
          <a:prstGeom prst="rect">
            <a:avLst/>
          </a:prstGeom>
          <a:solidFill>
            <a:srgbClr val="181C25"/>
          </a:solidFill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Shape 39"/>
          <p:cNvSpPr/>
          <p:nvPr/>
        </p:nvSpPr>
        <p:spPr>
          <a:xfrm>
            <a:off x="4773168" y="3913632"/>
            <a:ext cx="47549" cy="80467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Text 40"/>
          <p:cNvSpPr/>
          <p:nvPr/>
        </p:nvSpPr>
        <p:spPr>
          <a:xfrm>
            <a:off x="4901184" y="398678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EMAIL  ·  1 unit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4901184" y="4206240"/>
            <a:ext cx="3611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Attending to email: Re: Discovery — Nkosi v Absa</a:t>
            </a:r>
            <a:endParaRPr lang="en-US" sz="900" dirty="0"/>
          </a:p>
        </p:txBody>
      </p:sp>
      <p:sp>
        <p:nvSpPr>
          <p:cNvPr id="44" name="Shape 42"/>
          <p:cNvSpPr/>
          <p:nvPr/>
        </p:nvSpPr>
        <p:spPr>
          <a:xfrm>
            <a:off x="6693408" y="4443984"/>
            <a:ext cx="822960" cy="219456"/>
          </a:xfrm>
          <a:prstGeom prst="rect">
            <a:avLst/>
          </a:prstGeom>
          <a:solidFill>
            <a:srgbClr val="000000"/>
          </a:solidFill>
          <a:ln w="635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Text 43"/>
          <p:cNvSpPr/>
          <p:nvPr/>
        </p:nvSpPr>
        <p:spPr>
          <a:xfrm>
            <a:off x="6693408" y="444398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Approve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4 — Invoice Generator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Requested by Anchané Botha: generate pro-formas without a secretary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3291840" cy="356616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502920" y="13533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Settings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75564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02920" y="1956816"/>
            <a:ext cx="2926080" cy="310896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Text 7"/>
          <p:cNvSpPr/>
          <p:nvPr/>
        </p:nvSpPr>
        <p:spPr>
          <a:xfrm>
            <a:off x="621792" y="195681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2024/0512-LIT — Nkosi v Absa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39572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TYPE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502920" y="2596896"/>
            <a:ext cx="2926080" cy="310896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621792" y="259689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Pro-Forma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03580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RATE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02920" y="3236976"/>
            <a:ext cx="2926080" cy="310896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621792" y="323697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3 500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" y="3675888"/>
            <a:ext cx="29260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RATE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02920" y="3877056"/>
            <a:ext cx="2926080" cy="310896"/>
          </a:xfrm>
          <a:prstGeom prst="rect">
            <a:avLst/>
          </a:prstGeom>
          <a:solidFill>
            <a:srgbClr val="181C25"/>
          </a:solidFill>
          <a:ln w="1270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21792" y="3877056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502920" y="4407408"/>
            <a:ext cx="2926080" cy="32918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Text 18"/>
          <p:cNvSpPr/>
          <p:nvPr/>
        </p:nvSpPr>
        <p:spPr>
          <a:xfrm>
            <a:off x="502920" y="4407408"/>
            <a:ext cx="2926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Preview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794760" y="1234440"/>
            <a:ext cx="502920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3931920" y="1335024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0F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MOTSOENENG BILL ATTORNEYS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3931920" y="1591056"/>
            <a:ext cx="3200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Houghton Estate  ·  +27 11 463 9401  ·  www.mb.co.za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903720" y="1335024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750" b="1" kern="0" spc="100" dirty="0">
                <a:solidFill>
                  <a:srgbClr val="B886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PRO-FORMA INVOICE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6903720" y="1499616"/>
            <a:ext cx="1828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#PF-2026-0422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886200" y="1828800"/>
            <a:ext cx="4800600" cy="0"/>
          </a:xfrm>
          <a:prstGeom prst="line">
            <a:avLst/>
          </a:prstGeom>
          <a:noFill/>
          <a:ln w="19050">
            <a:solidFill>
              <a:srgbClr val="0D0F1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Text 25"/>
          <p:cNvSpPr/>
          <p:nvPr/>
        </p:nvSpPr>
        <p:spPr>
          <a:xfrm>
            <a:off x="3931920" y="1901952"/>
            <a:ext cx="1828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kern="0" spc="1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 TO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3931920" y="2084832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Nkosi v Absa Bank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931920" y="2304288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Matter: 2024/0512-LIT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886200" y="2542032"/>
            <a:ext cx="4800600" cy="237744"/>
          </a:xfrm>
          <a:prstGeom prst="rect">
            <a:avLst/>
          </a:prstGeom>
          <a:solidFill>
            <a:srgbClr val="0D0F14"/>
          </a:solidFill>
          <a:ln w="12700">
            <a:solidFill>
              <a:srgbClr val="0D0F14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3931920" y="2542032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Description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6510528" y="2542032"/>
            <a:ext cx="3657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922008" y="2542032"/>
            <a:ext cx="457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7479792" y="2542032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Amount (R)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3886200" y="2816352"/>
            <a:ext cx="48006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Text 34"/>
          <p:cNvSpPr/>
          <p:nvPr/>
        </p:nvSpPr>
        <p:spPr>
          <a:xfrm>
            <a:off x="3931920" y="2816352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Attending to email: RE: Settlement — Nkosi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510528" y="281635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6922008" y="281635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7479792" y="2816352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350.00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3886200" y="3063240"/>
            <a:ext cx="4800600" cy="246888"/>
          </a:xfrm>
          <a:prstGeom prst="rect">
            <a:avLst/>
          </a:prstGeom>
          <a:solidFill>
            <a:srgbClr val="F4F6F9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Text 39"/>
          <p:cNvSpPr/>
          <p:nvPr/>
        </p:nvSpPr>
        <p:spPr>
          <a:xfrm>
            <a:off x="3931920" y="3063240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founding affidavit</a:t>
            </a:r>
            <a:endParaRPr lang="en-US" sz="800" dirty="0"/>
          </a:p>
        </p:txBody>
      </p:sp>
      <p:sp>
        <p:nvSpPr>
          <p:cNvPr id="42" name="Text 40"/>
          <p:cNvSpPr/>
          <p:nvPr/>
        </p:nvSpPr>
        <p:spPr>
          <a:xfrm>
            <a:off x="6510528" y="306324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  <p:sp>
        <p:nvSpPr>
          <p:cNvPr id="43" name="Text 41"/>
          <p:cNvSpPr/>
          <p:nvPr/>
        </p:nvSpPr>
        <p:spPr>
          <a:xfrm>
            <a:off x="6922008" y="306324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7479792" y="3063240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2 100.00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886200" y="3310128"/>
            <a:ext cx="4800600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EEEEEE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Text 44"/>
          <p:cNvSpPr/>
          <p:nvPr/>
        </p:nvSpPr>
        <p:spPr>
          <a:xfrm>
            <a:off x="3931920" y="3310128"/>
            <a:ext cx="2468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with opposing counsel re: postponement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6510528" y="33101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6922008" y="33101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7479792" y="3310128"/>
            <a:ext cx="1005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700.00</a:t>
            </a:r>
            <a:endParaRPr lang="en-US" sz="800" dirty="0"/>
          </a:p>
        </p:txBody>
      </p:sp>
      <p:sp>
        <p:nvSpPr>
          <p:cNvPr id="50" name="Shape 48"/>
          <p:cNvSpPr/>
          <p:nvPr/>
        </p:nvSpPr>
        <p:spPr>
          <a:xfrm>
            <a:off x="3886200" y="3566160"/>
            <a:ext cx="4800600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1" name="Text 49"/>
          <p:cNvSpPr/>
          <p:nvPr/>
        </p:nvSpPr>
        <p:spPr>
          <a:xfrm>
            <a:off x="6784848" y="3611880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589520" y="3611880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3 150.00</a:t>
            </a: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6784848" y="3858768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VAT (15%)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589520" y="3858768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472.50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6784848" y="4105656"/>
            <a:ext cx="1097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DUE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7589520" y="4105656"/>
            <a:ext cx="12344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dirty="0">
                <a:solidFill>
                  <a:srgbClr val="0D0F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3 622.50</a:t>
            </a:r>
            <a:endParaRPr lang="en-US" sz="1000" dirty="0"/>
          </a:p>
        </p:txBody>
      </p:sp>
      <p:sp>
        <p:nvSpPr>
          <p:cNvPr id="57" name="Text 55"/>
          <p:cNvSpPr/>
          <p:nvPr/>
        </p:nvSpPr>
        <p:spPr>
          <a:xfrm>
            <a:off x="3886200" y="4663440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Generated by TimeLex  ·  Entries verified and approved by fee earner</a:t>
            </a:r>
            <a:endParaRPr lang="en-US" sz="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Feature 5 — Analytics Dashboard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 productivity insights — hours by matter, type &amp; week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2066544" cy="9601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429768" y="13167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Billable Today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29768" y="151790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3.6 h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2496312" y="1234440"/>
            <a:ext cx="2066544" cy="9601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9" name="Text 7"/>
          <p:cNvSpPr/>
          <p:nvPr/>
        </p:nvSpPr>
        <p:spPr>
          <a:xfrm>
            <a:off x="2606040" y="13167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Auto-Captured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606040" y="151790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74%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4672584" y="1234440"/>
            <a:ext cx="2066544" cy="9601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4782312" y="13167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Value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4782312" y="151790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 12 600</a:t>
            </a:r>
            <a:endParaRPr lang="en-US" sz="2600" dirty="0"/>
          </a:p>
        </p:txBody>
      </p:sp>
      <p:sp>
        <p:nvSpPr>
          <p:cNvPr id="14" name="Shape 12"/>
          <p:cNvSpPr/>
          <p:nvPr/>
        </p:nvSpPr>
        <p:spPr>
          <a:xfrm>
            <a:off x="6848856" y="1234440"/>
            <a:ext cx="2066544" cy="960120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6958584" y="1316736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Matter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6958584" y="1517904"/>
            <a:ext cx="18288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2024/0512</a:t>
            </a:r>
            <a:endParaRPr lang="en-US" sz="2600" dirty="0"/>
          </a:p>
        </p:txBody>
      </p:sp>
      <p:sp>
        <p:nvSpPr>
          <p:cNvPr id="17" name="Shape 15"/>
          <p:cNvSpPr/>
          <p:nvPr/>
        </p:nvSpPr>
        <p:spPr>
          <a:xfrm>
            <a:off x="320040" y="2359152"/>
            <a:ext cx="4224528" cy="257860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50292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BY ACTIVITY TYPE</a:t>
            </a:r>
            <a:endParaRPr lang="en-US" sz="1000" dirty="0"/>
          </a:p>
        </p:txBody>
      </p:sp>
      <p:graphicFrame>
        <p:nvGraphicFramePr>
          <p:cNvPr id="19" name="Chart 0"/>
          <p:cNvGraphicFramePr/>
          <p:nvPr/>
        </p:nvGraphicFramePr>
        <p:xfrm>
          <a:off x="365760" y="2706624"/>
          <a:ext cx="411480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Shape 17"/>
          <p:cNvSpPr/>
          <p:nvPr/>
        </p:nvSpPr>
        <p:spPr>
          <a:xfrm>
            <a:off x="4663440" y="2359152"/>
            <a:ext cx="4160520" cy="257860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1" name="Text 18"/>
          <p:cNvSpPr/>
          <p:nvPr/>
        </p:nvSpPr>
        <p:spPr>
          <a:xfrm>
            <a:off x="4846320" y="2450592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BY MATTER</a:t>
            </a:r>
            <a:endParaRPr lang="en-US" sz="1000" dirty="0"/>
          </a:p>
        </p:txBody>
      </p:sp>
      <p:graphicFrame>
        <p:nvGraphicFramePr>
          <p:cNvPr id="22" name="Chart 1"/>
          <p:cNvGraphicFramePr/>
          <p:nvPr/>
        </p:nvGraphicFramePr>
        <p:xfrm>
          <a:off x="4681728" y="2706624"/>
          <a:ext cx="4096512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23" name="Text 19"/>
          <p:cNvSpPr/>
          <p:nvPr/>
        </p:nvSpPr>
        <p:spPr>
          <a:xfrm>
            <a:off x="320040" y="4901184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Also includes: weekly timeline chart, matter breakdown table with billable value, CSV export — all built from approved entries.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3 — Technical Architecture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Modular ES6+ frontend · Ghost Practice API · POPIA-compliant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6217920" cy="804672"/>
          </a:xfrm>
          <a:prstGeom prst="rect">
            <a:avLst/>
          </a:prstGeom>
          <a:solidFill>
            <a:srgbClr val="13161D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7549" cy="804672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ATTORNEY'S TOOLS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548640" y="1536192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Text 7"/>
          <p:cNvSpPr/>
          <p:nvPr/>
        </p:nvSpPr>
        <p:spPr>
          <a:xfrm>
            <a:off x="548640" y="153619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Outlook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709928" y="1536192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Text 9"/>
          <p:cNvSpPr/>
          <p:nvPr/>
        </p:nvSpPr>
        <p:spPr>
          <a:xfrm>
            <a:off x="1709928" y="153619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Calendar</a:t>
            </a:r>
            <a:endParaRPr lang="en-US" sz="750" dirty="0"/>
          </a:p>
        </p:txBody>
      </p:sp>
      <p:sp>
        <p:nvSpPr>
          <p:cNvPr id="12" name="Shape 10"/>
          <p:cNvSpPr/>
          <p:nvPr/>
        </p:nvSpPr>
        <p:spPr>
          <a:xfrm>
            <a:off x="2871216" y="1536192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Text 11"/>
          <p:cNvSpPr/>
          <p:nvPr/>
        </p:nvSpPr>
        <p:spPr>
          <a:xfrm>
            <a:off x="2871216" y="153619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/ Docs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032504" y="1536192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4032504" y="153619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/ Zoom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193792" y="1536192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Text 15"/>
          <p:cNvSpPr/>
          <p:nvPr/>
        </p:nvSpPr>
        <p:spPr>
          <a:xfrm>
            <a:off x="5193792" y="1536192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3429000" y="2039112"/>
            <a:ext cx="0" cy="137160"/>
          </a:xfrm>
          <a:prstGeom prst="line">
            <a:avLst/>
          </a:prstGeom>
          <a:noFill/>
          <a:ln w="1905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Shape 17"/>
          <p:cNvSpPr/>
          <p:nvPr/>
        </p:nvSpPr>
        <p:spPr>
          <a:xfrm>
            <a:off x="320040" y="2176272"/>
            <a:ext cx="6217920" cy="804672"/>
          </a:xfrm>
          <a:prstGeom prst="rect">
            <a:avLst/>
          </a:prstGeom>
          <a:solidFill>
            <a:srgbClr val="13161D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320040" y="2176272"/>
            <a:ext cx="47549" cy="804672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502920" y="2221992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CAPTURE ENGINE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2478024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548640" y="24780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classifier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709928" y="2478024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Text 23"/>
          <p:cNvSpPr/>
          <p:nvPr/>
        </p:nvSpPr>
        <p:spPr>
          <a:xfrm>
            <a:off x="1709928" y="24780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 matcher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2871216" y="2478024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Text 25"/>
          <p:cNvSpPr/>
          <p:nvPr/>
        </p:nvSpPr>
        <p:spPr>
          <a:xfrm>
            <a:off x="2871216" y="24780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calculator</a:t>
            </a:r>
            <a:endParaRPr lang="en-US" sz="750" dirty="0"/>
          </a:p>
        </p:txBody>
      </p:sp>
      <p:sp>
        <p:nvSpPr>
          <p:cNvPr id="28" name="Shape 26"/>
          <p:cNvSpPr/>
          <p:nvPr/>
        </p:nvSpPr>
        <p:spPr>
          <a:xfrm>
            <a:off x="4032504" y="2478024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4032504" y="24780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Narration generator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5193792" y="2478024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5193792" y="2478024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 creator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3429000" y="2980944"/>
            <a:ext cx="0" cy="13716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Shape 31"/>
          <p:cNvSpPr/>
          <p:nvPr/>
        </p:nvSpPr>
        <p:spPr>
          <a:xfrm>
            <a:off x="320040" y="3118104"/>
            <a:ext cx="6217920" cy="804672"/>
          </a:xfrm>
          <a:prstGeom prst="rect">
            <a:avLst/>
          </a:prstGeom>
          <a:solidFill>
            <a:srgbClr val="13161D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320040" y="3118104"/>
            <a:ext cx="47549" cy="804672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502920" y="3163824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DASHBOARD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48640" y="3419856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Text 35"/>
          <p:cNvSpPr/>
          <p:nvPr/>
        </p:nvSpPr>
        <p:spPr>
          <a:xfrm>
            <a:off x="548640" y="341985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1709928" y="3419856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1709928" y="341985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Capture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2871216" y="3419856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Text 39"/>
          <p:cNvSpPr/>
          <p:nvPr/>
        </p:nvSpPr>
        <p:spPr>
          <a:xfrm>
            <a:off x="2871216" y="341985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Entries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032504" y="3419856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Text 41"/>
          <p:cNvSpPr/>
          <p:nvPr/>
        </p:nvSpPr>
        <p:spPr>
          <a:xfrm>
            <a:off x="4032504" y="341985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5193792" y="3419856"/>
            <a:ext cx="1051560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Text 43"/>
          <p:cNvSpPr/>
          <p:nvPr/>
        </p:nvSpPr>
        <p:spPr>
          <a:xfrm>
            <a:off x="5193792" y="3419856"/>
            <a:ext cx="1051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★</a:t>
            </a:r>
            <a:endParaRPr lang="en-US" sz="850" dirty="0"/>
          </a:p>
        </p:txBody>
      </p:sp>
      <p:sp>
        <p:nvSpPr>
          <p:cNvPr id="46" name="Shape 44"/>
          <p:cNvSpPr/>
          <p:nvPr/>
        </p:nvSpPr>
        <p:spPr>
          <a:xfrm>
            <a:off x="3429000" y="3922776"/>
            <a:ext cx="0" cy="137160"/>
          </a:xfrm>
          <a:prstGeom prst="line">
            <a:avLst/>
          </a:prstGeom>
          <a:noFill/>
          <a:ln w="1905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Shape 45"/>
          <p:cNvSpPr/>
          <p:nvPr/>
        </p:nvSpPr>
        <p:spPr>
          <a:xfrm>
            <a:off x="320040" y="4059936"/>
            <a:ext cx="6217920" cy="804672"/>
          </a:xfrm>
          <a:prstGeom prst="rect">
            <a:avLst/>
          </a:prstGeom>
          <a:solidFill>
            <a:srgbClr val="13161D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Shape 46"/>
          <p:cNvSpPr/>
          <p:nvPr/>
        </p:nvSpPr>
        <p:spPr>
          <a:xfrm>
            <a:off x="320040" y="4059936"/>
            <a:ext cx="47549" cy="804672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Text 47"/>
          <p:cNvSpPr/>
          <p:nvPr/>
        </p:nvSpPr>
        <p:spPr>
          <a:xfrm>
            <a:off x="502920" y="4105656"/>
            <a:ext cx="21945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OUTPUT / INTEGRATION</a:t>
            </a:r>
            <a:endParaRPr lang="en-US" sz="900" dirty="0"/>
          </a:p>
        </p:txBody>
      </p:sp>
      <p:sp>
        <p:nvSpPr>
          <p:cNvPr id="50" name="Shape 48"/>
          <p:cNvSpPr/>
          <p:nvPr/>
        </p:nvSpPr>
        <p:spPr>
          <a:xfrm>
            <a:off x="548640" y="4361688"/>
            <a:ext cx="1825752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1" name="Text 49"/>
          <p:cNvSpPr/>
          <p:nvPr/>
        </p:nvSpPr>
        <p:spPr>
          <a:xfrm>
            <a:off x="548640" y="4361688"/>
            <a:ext cx="182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API</a:t>
            </a:r>
            <a:endParaRPr lang="en-US" sz="750" dirty="0"/>
          </a:p>
        </p:txBody>
      </p:sp>
      <p:sp>
        <p:nvSpPr>
          <p:cNvPr id="52" name="Shape 50"/>
          <p:cNvSpPr/>
          <p:nvPr/>
        </p:nvSpPr>
        <p:spPr>
          <a:xfrm>
            <a:off x="2484120" y="4361688"/>
            <a:ext cx="1825752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3" name="Text 51"/>
          <p:cNvSpPr/>
          <p:nvPr/>
        </p:nvSpPr>
        <p:spPr>
          <a:xfrm>
            <a:off x="2484120" y="4361688"/>
            <a:ext cx="182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export (fallback)</a:t>
            </a:r>
            <a:endParaRPr lang="en-US" sz="750" dirty="0"/>
          </a:p>
        </p:txBody>
      </p:sp>
      <p:sp>
        <p:nvSpPr>
          <p:cNvPr id="54" name="Shape 52"/>
          <p:cNvSpPr/>
          <p:nvPr/>
        </p:nvSpPr>
        <p:spPr>
          <a:xfrm>
            <a:off x="4419600" y="4361688"/>
            <a:ext cx="1825752" cy="365760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Text 53"/>
          <p:cNvSpPr/>
          <p:nvPr/>
        </p:nvSpPr>
        <p:spPr>
          <a:xfrm>
            <a:off x="4419600" y="4361688"/>
            <a:ext cx="1825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Pro-forma / Tax invoices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6748272" y="1234440"/>
            <a:ext cx="2075688" cy="363016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57" name="Text 55"/>
          <p:cNvSpPr/>
          <p:nvPr/>
        </p:nvSpPr>
        <p:spPr>
          <a:xfrm>
            <a:off x="6903720" y="1353312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Tech Stack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6903720" y="171907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6903720" y="190195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HTML · CSS · ES6+</a:t>
            </a:r>
            <a:endParaRPr lang="en-US" sz="950" dirty="0"/>
          </a:p>
        </p:txBody>
      </p:sp>
      <p:sp>
        <p:nvSpPr>
          <p:cNvPr id="60" name="Text 58"/>
          <p:cNvSpPr/>
          <p:nvPr/>
        </p:nvSpPr>
        <p:spPr>
          <a:xfrm>
            <a:off x="6903720" y="2203704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Modules</a:t>
            </a:r>
            <a:endParaRPr lang="en-US" sz="900" dirty="0"/>
          </a:p>
        </p:txBody>
      </p:sp>
      <p:sp>
        <p:nvSpPr>
          <p:cNvPr id="61" name="Text 59"/>
          <p:cNvSpPr/>
          <p:nvPr/>
        </p:nvSpPr>
        <p:spPr>
          <a:xfrm>
            <a:off x="6903720" y="2386584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ES6 import/export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6903720" y="2688336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Styling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6903720" y="2871216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vars, 6 CSS files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6903720" y="3172968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Charts</a:t>
            </a:r>
            <a:endParaRPr lang="en-US" sz="900" dirty="0"/>
          </a:p>
        </p:txBody>
      </p:sp>
      <p:sp>
        <p:nvSpPr>
          <p:cNvPr id="65" name="Text 63"/>
          <p:cNvSpPr/>
          <p:nvPr/>
        </p:nvSpPr>
        <p:spPr>
          <a:xfrm>
            <a:off x="6903720" y="3355848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Canvas 2D</a:t>
            </a:r>
            <a:endParaRPr lang="en-US" sz="950" dirty="0"/>
          </a:p>
        </p:txBody>
      </p:sp>
      <p:sp>
        <p:nvSpPr>
          <p:cNvPr id="66" name="Text 64"/>
          <p:cNvSpPr/>
          <p:nvPr/>
        </p:nvSpPr>
        <p:spPr>
          <a:xfrm>
            <a:off x="6903720" y="3657600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API</a:t>
            </a:r>
            <a:endParaRPr lang="en-US" sz="900" dirty="0"/>
          </a:p>
        </p:txBody>
      </p:sp>
      <p:sp>
        <p:nvSpPr>
          <p:cNvPr id="67" name="Text 65"/>
          <p:cNvSpPr/>
          <p:nvPr/>
        </p:nvSpPr>
        <p:spPr>
          <a:xfrm>
            <a:off x="6903720" y="3840480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/ OAuth2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6903720" y="4142232"/>
            <a:ext cx="914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6903720" y="4325112"/>
            <a:ext cx="1783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Node.js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Code Architecture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focused source files — each has one clear responsibility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7549" cy="87782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484632" y="129844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app.js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83864" y="1316736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Text 7"/>
          <p:cNvSpPr/>
          <p:nvPr/>
        </p:nvSpPr>
        <p:spPr>
          <a:xfrm>
            <a:off x="3483864" y="13167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~420 lines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484632" y="1554480"/>
            <a:ext cx="3895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state, navigation, analytics renderer, CSV export, keyboard shortcuts, idle reminder, localStorage persistence.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0040" y="2176272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2" name="Shape 10"/>
          <p:cNvSpPr/>
          <p:nvPr/>
        </p:nvSpPr>
        <p:spPr>
          <a:xfrm>
            <a:off x="320040" y="2176272"/>
            <a:ext cx="47549" cy="877824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Text 11"/>
          <p:cNvSpPr/>
          <p:nvPr/>
        </p:nvSpPr>
        <p:spPr>
          <a:xfrm>
            <a:off x="484632" y="22402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capture-engine.js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483864" y="2258568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3483864" y="22585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5B8E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~500 lines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84632" y="2496312"/>
            <a:ext cx="3895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CaptureEngine + 7 integration classes (Outlook, Calendar, Word, Docs, Teams, Zoom, Browser). ActivityType / CaptureStatus enums.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3118104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320040" y="3118104"/>
            <a:ext cx="47549" cy="877824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Text 17"/>
          <p:cNvSpPr/>
          <p:nvPr/>
        </p:nvSpPr>
        <p:spPr>
          <a:xfrm>
            <a:off x="484632" y="3182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invoice-generator.js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483864" y="3200400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3483864" y="3200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~300 lines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484632" y="3438144"/>
            <a:ext cx="3895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InvoiceGenerator class. Preview rendering, print output, GP push. InvoiceType enum. Summary box in settings.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320040" y="4059936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4" name="Shape 22"/>
          <p:cNvSpPr/>
          <p:nvPr/>
        </p:nvSpPr>
        <p:spPr>
          <a:xfrm>
            <a:off x="320040" y="4059936"/>
            <a:ext cx="47549" cy="877824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5" name="Text 23"/>
          <p:cNvSpPr/>
          <p:nvPr/>
        </p:nvSpPr>
        <p:spPr>
          <a:xfrm>
            <a:off x="484632" y="41239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gp-integration.js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483864" y="4142232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Text 25"/>
          <p:cNvSpPr/>
          <p:nvPr/>
        </p:nvSpPr>
        <p:spPr>
          <a:xfrm>
            <a:off x="3483864" y="4142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~280 lines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84632" y="4379976"/>
            <a:ext cx="3895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GhostPracticeIntegration class. OAuth2 auth simulation, batch pushTimeEntries(), syncMatters(), generateInvoice().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782312" y="1234440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0" name="Shape 28"/>
          <p:cNvSpPr/>
          <p:nvPr/>
        </p:nvSpPr>
        <p:spPr>
          <a:xfrm>
            <a:off x="4782312" y="1234440"/>
            <a:ext cx="47549" cy="877824"/>
          </a:xfrm>
          <a:prstGeom prst="rect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4946904" y="1298448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utils/date-helpers.js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7946136" y="1316736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3" name="Text 31"/>
          <p:cNvSpPr/>
          <p:nvPr/>
        </p:nvSpPr>
        <p:spPr>
          <a:xfrm>
            <a:off x="7946136" y="131673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 lines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4946904" y="1554480"/>
            <a:ext cx="3895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toBillingUnits(), formatDuration(), getBillingPeriodStart(), isBusinessDay(), getBusinessDaysBetween().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4782312" y="2176272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6" name="Shape 34"/>
          <p:cNvSpPr/>
          <p:nvPr/>
        </p:nvSpPr>
        <p:spPr>
          <a:xfrm>
            <a:off x="4782312" y="2176272"/>
            <a:ext cx="47549" cy="877824"/>
          </a:xfrm>
          <a:prstGeom prst="rect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Text 35"/>
          <p:cNvSpPr/>
          <p:nvPr/>
        </p:nvSpPr>
        <p:spPr>
          <a:xfrm>
            <a:off x="4946904" y="2240280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utils/matter-lookup.js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7946136" y="2258568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7946136" y="225856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~200 lines</a:t>
            </a:r>
            <a:endParaRPr lang="en-US" sz="800" dirty="0"/>
          </a:p>
        </p:txBody>
      </p:sp>
      <p:sp>
        <p:nvSpPr>
          <p:cNvPr id="40" name="Text 38"/>
          <p:cNvSpPr/>
          <p:nvPr/>
        </p:nvSpPr>
        <p:spPr>
          <a:xfrm>
            <a:off x="4946904" y="2496312"/>
            <a:ext cx="3895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isValidMatterNumber(), searchMatters(), getMatterSuggestions(), createMatter() — powers the autocomplete datalist.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782312" y="3118104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2" name="Shape 40"/>
          <p:cNvSpPr/>
          <p:nvPr/>
        </p:nvSpPr>
        <p:spPr>
          <a:xfrm>
            <a:off x="4782312" y="3118104"/>
            <a:ext cx="47549" cy="877824"/>
          </a:xfrm>
          <a:prstGeom prst="rect">
            <a:avLst/>
          </a:prstGeom>
          <a:solidFill>
            <a:srgbClr val="7A8299"/>
          </a:solidFill>
          <a:ln w="12700">
            <a:solidFill>
              <a:srgbClr val="7A8299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Text 41"/>
          <p:cNvSpPr/>
          <p:nvPr/>
        </p:nvSpPr>
        <p:spPr>
          <a:xfrm>
            <a:off x="4946904" y="3182112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utils/toast-notification.js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7946136" y="3200400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Text 43"/>
          <p:cNvSpPr/>
          <p:nvPr/>
        </p:nvSpPr>
        <p:spPr>
          <a:xfrm>
            <a:off x="7946136" y="320040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~150 lines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4946904" y="3438144"/>
            <a:ext cx="3895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showToast(), showSuccess/Error/Warning/Info(). Full toast container + animations. initLegacyToast() shim.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4782312" y="4059936"/>
            <a:ext cx="4251960" cy="87782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8" name="Shape 46"/>
          <p:cNvSpPr/>
          <p:nvPr/>
        </p:nvSpPr>
        <p:spPr>
          <a:xfrm>
            <a:off x="4782312" y="4059936"/>
            <a:ext cx="47549" cy="877824"/>
          </a:xfrm>
          <a:prstGeom prst="rect">
            <a:avLst/>
          </a:prstGeom>
          <a:solidFill>
            <a:srgbClr val="4A5168"/>
          </a:solidFill>
          <a:ln w="12700">
            <a:solidFill>
              <a:srgbClr val="4A516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Text 47"/>
          <p:cNvSpPr/>
          <p:nvPr/>
        </p:nvSpPr>
        <p:spPr>
          <a:xfrm>
            <a:off x="4946904" y="4123944"/>
            <a:ext cx="2560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styles/ (6 CSS files)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7946136" y="4142232"/>
            <a:ext cx="914400" cy="201168"/>
          </a:xfrm>
          <a:prstGeom prst="rect">
            <a:avLst/>
          </a:prstGeom>
          <a:solidFill>
            <a:srgbClr val="000000"/>
          </a:solidFill>
          <a:ln w="635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1" name="Text 49"/>
          <p:cNvSpPr/>
          <p:nvPr/>
        </p:nvSpPr>
        <p:spPr>
          <a:xfrm>
            <a:off x="7946136" y="4142232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00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~700 lines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4379976"/>
            <a:ext cx="389534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· dashboard · capture · entries · invoice · analytics.css — CSS custom properties throughout. Print CSS for invoice.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Ghost Practice Integration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gp-integration.js · Simulated OAuth2 + REST API flow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C9A84C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65760" y="1234440"/>
            <a:ext cx="1536192" cy="10058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438912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Approves Draft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1901952" y="1737360"/>
            <a:ext cx="182880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Shape 7"/>
          <p:cNvSpPr/>
          <p:nvPr/>
        </p:nvSpPr>
        <p:spPr>
          <a:xfrm>
            <a:off x="2084832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E08A3C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Shape 8"/>
          <p:cNvSpPr/>
          <p:nvPr/>
        </p:nvSpPr>
        <p:spPr>
          <a:xfrm>
            <a:off x="2084832" y="1234440"/>
            <a:ext cx="1536192" cy="100584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Text 9"/>
          <p:cNvSpPr/>
          <p:nvPr/>
        </p:nvSpPr>
        <p:spPr>
          <a:xfrm>
            <a:off x="2157984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createGPTimeEntry()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 conversion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621024" y="1737360"/>
            <a:ext cx="182880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3" name="Shape 11"/>
          <p:cNvSpPr/>
          <p:nvPr/>
        </p:nvSpPr>
        <p:spPr>
          <a:xfrm>
            <a:off x="3803904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5B8EF0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Shape 12"/>
          <p:cNvSpPr/>
          <p:nvPr/>
        </p:nvSpPr>
        <p:spPr>
          <a:xfrm>
            <a:off x="3803904" y="1234440"/>
            <a:ext cx="1536192" cy="100584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3877056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Auth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OAuth2 token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340096" y="1737360"/>
            <a:ext cx="182880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5522976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4CAF82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Shape 16"/>
          <p:cNvSpPr/>
          <p:nvPr/>
        </p:nvSpPr>
        <p:spPr>
          <a:xfrm>
            <a:off x="5522976" y="1234440"/>
            <a:ext cx="1536192" cy="100584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9" name="Text 17"/>
          <p:cNvSpPr/>
          <p:nvPr/>
        </p:nvSpPr>
        <p:spPr>
          <a:xfrm>
            <a:off x="5596128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pushTimeEntries()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POST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059168" y="1737360"/>
            <a:ext cx="182880" cy="0"/>
          </a:xfrm>
          <a:prstGeom prst="line">
            <a:avLst/>
          </a:prstGeom>
          <a:noFill/>
          <a:ln w="190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Shape 19"/>
          <p:cNvSpPr/>
          <p:nvPr/>
        </p:nvSpPr>
        <p:spPr>
          <a:xfrm>
            <a:off x="7242048" y="1234440"/>
            <a:ext cx="1536192" cy="1005840"/>
          </a:xfrm>
          <a:prstGeom prst="rect">
            <a:avLst/>
          </a:prstGeom>
          <a:solidFill>
            <a:srgbClr val="13161D"/>
          </a:solidFill>
          <a:ln w="19050">
            <a:solidFill>
              <a:srgbClr val="4CAF82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2" name="Shape 20"/>
          <p:cNvSpPr/>
          <p:nvPr/>
        </p:nvSpPr>
        <p:spPr>
          <a:xfrm>
            <a:off x="7242048" y="1234440"/>
            <a:ext cx="1536192" cy="100584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7315200" y="1389888"/>
            <a:ext cx="138988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365760" y="239572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Methods in GhostPracticeIntegration Class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65760" y="2788920"/>
            <a:ext cx="4251960" cy="6949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6" name="Shape 24"/>
          <p:cNvSpPr/>
          <p:nvPr/>
        </p:nvSpPr>
        <p:spPr>
          <a:xfrm>
            <a:off x="475488" y="2880360"/>
            <a:ext cx="2331720" cy="219456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7" name="Text 25"/>
          <p:cNvSpPr/>
          <p:nvPr/>
        </p:nvSpPr>
        <p:spPr>
          <a:xfrm>
            <a:off x="521208" y="28803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authenticate()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521208" y="31363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OAuth2. Stores access + refresh tokens. Production: real GP OAuth endpoint.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5760" y="3538728"/>
            <a:ext cx="4251960" cy="6949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0" name="Shape 28"/>
          <p:cNvSpPr/>
          <p:nvPr/>
        </p:nvSpPr>
        <p:spPr>
          <a:xfrm>
            <a:off x="475488" y="3630168"/>
            <a:ext cx="2331720" cy="219456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Text 29"/>
          <p:cNvSpPr/>
          <p:nvPr/>
        </p:nvSpPr>
        <p:spPr>
          <a:xfrm>
            <a:off x="521208" y="36301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pushTimeEntry(entry)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21208" y="3886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Converts TimeLex entry to GP format. POSTs to /time-entries. Returns success/failure.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365760" y="4288536"/>
            <a:ext cx="4251960" cy="6949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475488" y="4379976"/>
            <a:ext cx="2331720" cy="219456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521208" y="43799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pushTimeEntries([])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21208" y="46360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push with rate-limit delays. Shows per-entry success/fail summary toast.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28032" y="2788920"/>
            <a:ext cx="4251960" cy="6949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8" name="Shape 36"/>
          <p:cNvSpPr/>
          <p:nvPr/>
        </p:nvSpPr>
        <p:spPr>
          <a:xfrm>
            <a:off x="4937760" y="2880360"/>
            <a:ext cx="2331720" cy="219456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9" name="Text 37"/>
          <p:cNvSpPr/>
          <p:nvPr/>
        </p:nvSpPr>
        <p:spPr>
          <a:xfrm>
            <a:off x="4983480" y="2880360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syncMatters()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983480" y="3136392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Fetches active matters from GP. Populates matter autocomplete dropdown.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4828032" y="3538728"/>
            <a:ext cx="4251960" cy="6949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2" name="Shape 40"/>
          <p:cNvSpPr/>
          <p:nvPr/>
        </p:nvSpPr>
        <p:spPr>
          <a:xfrm>
            <a:off x="4937760" y="3630168"/>
            <a:ext cx="2331720" cy="219456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Text 41"/>
          <p:cNvSpPr/>
          <p:nvPr/>
        </p:nvSpPr>
        <p:spPr>
          <a:xfrm>
            <a:off x="4983480" y="3630168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generateInvoice()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983480" y="3886200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Generates pro-forma or final invoice in GP. Returns invoice number.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4828032" y="4288536"/>
            <a:ext cx="4251960" cy="6949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6" name="Shape 44"/>
          <p:cNvSpPr/>
          <p:nvPr/>
        </p:nvSpPr>
        <p:spPr>
          <a:xfrm>
            <a:off x="4937760" y="4379976"/>
            <a:ext cx="2331720" cy="219456"/>
          </a:xfrm>
          <a:prstGeom prst="rect">
            <a:avLst/>
          </a:prstGeom>
          <a:solidFill>
            <a:srgbClr val="181C25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7" name="Text 45"/>
          <p:cNvSpPr/>
          <p:nvPr/>
        </p:nvSpPr>
        <p:spPr>
          <a:xfrm>
            <a:off x="4983480" y="4379976"/>
            <a:ext cx="2286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createGPTimeEntries()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4983480" y="4636008"/>
            <a:ext cx="3840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 — transforms TimeLex entry array to GP format (YYYY-MM-DD, units, narration, source:'TimeLex').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 5 — Risk &amp; Compliance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POPIA · Attorney-Client Privilege · Ethics · Adoption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34440"/>
            <a:ext cx="4251960" cy="11521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7549" cy="1152144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Shape 5"/>
          <p:cNvSpPr/>
          <p:nvPr/>
        </p:nvSpPr>
        <p:spPr>
          <a:xfrm>
            <a:off x="3575304" y="1325880"/>
            <a:ext cx="822960" cy="219456"/>
          </a:xfrm>
          <a:prstGeom prst="rect">
            <a:avLst/>
          </a:prstGeom>
          <a:solidFill>
            <a:srgbClr val="000000"/>
          </a:solidFill>
          <a:ln w="635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8" name="Text 6"/>
          <p:cNvSpPr/>
          <p:nvPr/>
        </p:nvSpPr>
        <p:spPr>
          <a:xfrm>
            <a:off x="3575304" y="132588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02920" y="12984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Attorney-Client Privilege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1563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metadata captured — no email content stored. Entries stay locally; no third-party cloud used.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02920" y="1920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Zero content logging + on-premise deployment option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320040" y="2450592"/>
            <a:ext cx="4251960" cy="11521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3" name="Shape 11"/>
          <p:cNvSpPr/>
          <p:nvPr/>
        </p:nvSpPr>
        <p:spPr>
          <a:xfrm>
            <a:off x="320040" y="2450592"/>
            <a:ext cx="47549" cy="1152144"/>
          </a:xfrm>
          <a:prstGeom prst="rect">
            <a:avLst/>
          </a:prstGeom>
          <a:solidFill>
            <a:srgbClr val="E05C5C"/>
          </a:solidFill>
          <a:ln w="1270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Shape 12"/>
          <p:cNvSpPr/>
          <p:nvPr/>
        </p:nvSpPr>
        <p:spPr>
          <a:xfrm>
            <a:off x="3575304" y="2542032"/>
            <a:ext cx="822960" cy="219456"/>
          </a:xfrm>
          <a:prstGeom prst="rect">
            <a:avLst/>
          </a:prstGeom>
          <a:solidFill>
            <a:srgbClr val="000000"/>
          </a:solidFill>
          <a:ln w="6350">
            <a:solidFill>
              <a:srgbClr val="E05C5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3575304" y="2542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02920" y="2514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POPIA Compliance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2920" y="27797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personal data stays within firm infrastructure. No external analytics, data residency in South Africa.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502920" y="31363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Firm-hosted deployment + South African data residency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20040" y="3666744"/>
            <a:ext cx="4251960" cy="11521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320040" y="3666744"/>
            <a:ext cx="47549" cy="1152144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Shape 19"/>
          <p:cNvSpPr/>
          <p:nvPr/>
        </p:nvSpPr>
        <p:spPr>
          <a:xfrm>
            <a:off x="3575304" y="3758184"/>
            <a:ext cx="822960" cy="219456"/>
          </a:xfrm>
          <a:prstGeom prst="rect">
            <a:avLst/>
          </a:prstGeom>
          <a:solidFill>
            <a:srgbClr val="000000"/>
          </a:solidFill>
          <a:ln w="635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3575304" y="375818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02920" y="37307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Overbilling Risk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02920" y="39959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Auto-capture could log non-billable activities as billable if left unchecked.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02920" y="43525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Attorney approval required before any entry reaches billing. No blind auto-posting ever.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782312" y="1234440"/>
            <a:ext cx="4251960" cy="11521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7" name="Shape 25"/>
          <p:cNvSpPr/>
          <p:nvPr/>
        </p:nvSpPr>
        <p:spPr>
          <a:xfrm>
            <a:off x="4782312" y="1234440"/>
            <a:ext cx="47549" cy="1152144"/>
          </a:xfrm>
          <a:prstGeom prst="rect">
            <a:avLst/>
          </a:prstGeom>
          <a:solidFill>
            <a:srgbClr val="E08A3C"/>
          </a:solidFill>
          <a:ln w="1270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Shape 26"/>
          <p:cNvSpPr/>
          <p:nvPr/>
        </p:nvSpPr>
        <p:spPr>
          <a:xfrm>
            <a:off x="8037576" y="1325880"/>
            <a:ext cx="822960" cy="219456"/>
          </a:xfrm>
          <a:prstGeom prst="rect">
            <a:avLst/>
          </a:prstGeom>
          <a:solidFill>
            <a:srgbClr val="000000"/>
          </a:solidFill>
          <a:ln w="6350">
            <a:solidFill>
              <a:srgbClr val="E08A3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8037576" y="1325880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965192" y="1298448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 API Availability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4965192" y="1563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API may be unavailable during outages or maintenance periods.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4965192" y="192024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CSV export fallback — entries always exportable regardless of GP status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782312" y="2450592"/>
            <a:ext cx="4251960" cy="11521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4782312" y="2450592"/>
            <a:ext cx="47549" cy="115214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Shape 33"/>
          <p:cNvSpPr/>
          <p:nvPr/>
        </p:nvSpPr>
        <p:spPr>
          <a:xfrm>
            <a:off x="8037576" y="2542032"/>
            <a:ext cx="822960" cy="219456"/>
          </a:xfrm>
          <a:prstGeom prst="rect">
            <a:avLst/>
          </a:prstGeom>
          <a:solidFill>
            <a:srgbClr val="000000"/>
          </a:solidFill>
          <a:ln w="63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6" name="Text 34"/>
          <p:cNvSpPr/>
          <p:nvPr/>
        </p:nvSpPr>
        <p:spPr>
          <a:xfrm>
            <a:off x="8037576" y="2542032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965192" y="2514600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Adoption Resistance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965192" y="27797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Attorneys may resist changing established habits even if those habits are inefficient.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4965192" y="313639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Minimal behaviour change: review instead of retype. No new login or tool to learn.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782312" y="3666744"/>
            <a:ext cx="4251960" cy="1152144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1" name="Shape 39"/>
          <p:cNvSpPr/>
          <p:nvPr/>
        </p:nvSpPr>
        <p:spPr>
          <a:xfrm>
            <a:off x="4782312" y="3666744"/>
            <a:ext cx="47549" cy="115214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Shape 40"/>
          <p:cNvSpPr/>
          <p:nvPr/>
        </p:nvSpPr>
        <p:spPr>
          <a:xfrm>
            <a:off x="8037576" y="3758184"/>
            <a:ext cx="822960" cy="219456"/>
          </a:xfrm>
          <a:prstGeom prst="rect">
            <a:avLst/>
          </a:prstGeom>
          <a:solidFill>
            <a:srgbClr val="000000"/>
          </a:solidFill>
          <a:ln w="635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3" name="Text 41"/>
          <p:cNvSpPr/>
          <p:nvPr/>
        </p:nvSpPr>
        <p:spPr>
          <a:xfrm>
            <a:off x="8037576" y="3758184"/>
            <a:ext cx="822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965192" y="3730752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Inaccurate Matter Matching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4965192" y="399592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Keyword-based matching may assign the wrong matter to an activity.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4965192" y="43525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Matter is always editable before approval. Attorney is the final decision-maker always.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3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ROI &amp; Business Case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numbers that justify building TimeLex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20116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Text 4"/>
          <p:cNvSpPr/>
          <p:nvPr/>
        </p:nvSpPr>
        <p:spPr>
          <a:xfrm>
            <a:off x="457200" y="13167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R406k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57200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Ghost Practice cost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21396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R33 925 × 12 months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2514600" y="1234440"/>
            <a:ext cx="20116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0" name="Text 8"/>
          <p:cNvSpPr/>
          <p:nvPr/>
        </p:nvSpPr>
        <p:spPr>
          <a:xfrm>
            <a:off x="2606040" y="13167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E08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2-3 days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2606040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per attorney per month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606040" y="21396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manual fee capture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4663440" y="1234440"/>
            <a:ext cx="20116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4754880" y="13167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4754880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time to approve entries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754880" y="21396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hours of reconstruction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6812280" y="1234440"/>
            <a:ext cx="2011680" cy="1207008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903720" y="1316736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~20%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6903720" y="1865376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E23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billing uplift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903720" y="2139696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capturing missed time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365760" y="2651760"/>
            <a:ext cx="4754880" cy="2194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2" name="Text 20"/>
          <p:cNvSpPr/>
          <p:nvPr/>
        </p:nvSpPr>
        <p:spPr>
          <a:xfrm>
            <a:off x="548640" y="2761488"/>
            <a:ext cx="4389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E23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TimeLex Pays For Itself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" y="3163824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attorney who misses 30 min/day = ~R8 750/month at R350/hour</a:t>
            </a:r>
            <a:endParaRPr lang="en-US" sz="1050" dirty="0"/>
          </a:p>
        </p:txBody>
      </p:sp>
      <p:sp>
        <p:nvSpPr>
          <p:cNvPr id="24" name="Text 22"/>
          <p:cNvSpPr/>
          <p:nvPr/>
        </p:nvSpPr>
        <p:spPr>
          <a:xfrm>
            <a:off x="594360" y="347472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attorneys = R87 500+ monthly in lost billable time</a:t>
            </a:r>
            <a:endParaRPr lang="en-US" sz="1050" dirty="0"/>
          </a:p>
        </p:txBody>
      </p:sp>
      <p:sp>
        <p:nvSpPr>
          <p:cNvPr id="25" name="Text 23"/>
          <p:cNvSpPr/>
          <p:nvPr/>
        </p:nvSpPr>
        <p:spPr>
          <a:xfrm>
            <a:off x="594360" y="37856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 captures that automatically — ROI is immediate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" y="409651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per-seat licensing — one web app for the entire firm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94360" y="44074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●"/>
            </a:pPr>
            <a:r>
              <a:rPr lang="en-US" sz="105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remains — TimeLex is an enhancement layer</a:t>
            </a:r>
            <a:endParaRPr lang="en-US" sz="1050" dirty="0"/>
          </a:p>
        </p:txBody>
      </p:sp>
      <p:graphicFrame>
        <p:nvGraphicFramePr>
          <p:cNvPr id="28" name="Chart 0"/>
          <p:cNvGraphicFramePr/>
          <p:nvPr/>
        </p:nvGraphicFramePr>
        <p:xfrm>
          <a:off x="5257800" y="2651760"/>
          <a:ext cx="3566160" cy="21945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502920" y="256032"/>
            <a:ext cx="8138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Demo Walkthrough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02920" y="82296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steps · ~8 minutes · open index.html via Live Server before presenting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243584"/>
            <a:ext cx="4251960" cy="704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429768" y="1389888"/>
            <a:ext cx="420624" cy="42062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429768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886200" y="1335024"/>
            <a:ext cx="548640" cy="219456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9" name="Text 7"/>
          <p:cNvSpPr/>
          <p:nvPr/>
        </p:nvSpPr>
        <p:spPr>
          <a:xfrm>
            <a:off x="3886200" y="133502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978408" y="130759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app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" y="1572768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loads with pre-seeded entries and live stats. Show the real-time clock and billing progress bar.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0040" y="2002536"/>
            <a:ext cx="4251960" cy="704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13" name="Shape 11"/>
          <p:cNvSpPr/>
          <p:nvPr/>
        </p:nvSpPr>
        <p:spPr>
          <a:xfrm>
            <a:off x="429768" y="2148840"/>
            <a:ext cx="420624" cy="42062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Text 12"/>
          <p:cNvSpPr/>
          <p:nvPr/>
        </p:nvSpPr>
        <p:spPr>
          <a:xfrm>
            <a:off x="429768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886200" y="2093976"/>
            <a:ext cx="548640" cy="219456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6" name="Text 14"/>
          <p:cNvSpPr/>
          <p:nvPr/>
        </p:nvSpPr>
        <p:spPr>
          <a:xfrm>
            <a:off x="3886200" y="209397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78408" y="20665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activity feed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78408" y="2331720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Point to the feed — a new activity appears every ~10 seconds automatically. Show email detected → draft created in real time.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2761488"/>
            <a:ext cx="4251960" cy="704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429768" y="2907792"/>
            <a:ext cx="420624" cy="42062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429768" y="2907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886200" y="2852928"/>
            <a:ext cx="548640" cy="219456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3" name="Text 21"/>
          <p:cNvSpPr/>
          <p:nvPr/>
        </p:nvSpPr>
        <p:spPr>
          <a:xfrm>
            <a:off x="3886200" y="285292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60s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78408" y="28254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 draft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978408" y="3090672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Draft Entries panel. Type matter number — autocomplete fires. Click ✓ Approve. Stats update live immediately.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3520440"/>
            <a:ext cx="4251960" cy="704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7" name="Shape 25"/>
          <p:cNvSpPr/>
          <p:nvPr/>
        </p:nvSpPr>
        <p:spPr>
          <a:xfrm>
            <a:off x="429768" y="3666744"/>
            <a:ext cx="420624" cy="42062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Text 26"/>
          <p:cNvSpPr/>
          <p:nvPr/>
        </p:nvSpPr>
        <p:spPr>
          <a:xfrm>
            <a:off x="429768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86200" y="3611880"/>
            <a:ext cx="548640" cy="219456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0" name="Text 28"/>
          <p:cNvSpPr/>
          <p:nvPr/>
        </p:nvSpPr>
        <p:spPr>
          <a:xfrm>
            <a:off x="3886200" y="36118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978408" y="35844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All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78408" y="3849624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Accumulate 3-4 drafts. Click "Approve All". Entire day cleared instantly. This is hours of Ghost Practice work in one click.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0040" y="4279392"/>
            <a:ext cx="4251960" cy="704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429768" y="4425696"/>
            <a:ext cx="420624" cy="42062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429768" y="44256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886200" y="4370832"/>
            <a:ext cx="548640" cy="219456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Text 35"/>
          <p:cNvSpPr/>
          <p:nvPr/>
        </p:nvSpPr>
        <p:spPr>
          <a:xfrm>
            <a:off x="3886200" y="4370832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45s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978408" y="4343400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Entries view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978408" y="4608576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 entries table with auto/manual source tags. Filter by matter. Show summary line — units and hours total.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82312" y="1243584"/>
            <a:ext cx="4251960" cy="704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1" name="Shape 39"/>
          <p:cNvSpPr/>
          <p:nvPr/>
        </p:nvSpPr>
        <p:spPr>
          <a:xfrm>
            <a:off x="4892040" y="1389888"/>
            <a:ext cx="420624" cy="42062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2" name="Text 40"/>
          <p:cNvSpPr/>
          <p:nvPr/>
        </p:nvSpPr>
        <p:spPr>
          <a:xfrm>
            <a:off x="4892040" y="13898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8348472" y="1335024"/>
            <a:ext cx="548640" cy="219456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4" name="Text 42"/>
          <p:cNvSpPr/>
          <p:nvPr/>
        </p:nvSpPr>
        <p:spPr>
          <a:xfrm>
            <a:off x="8348472" y="1335024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45s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5440680" y="1307592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entry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440680" y="1572768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to Live Capture. Add Court Attendance manually. 30 minutes → 5 units calculated automatically.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782312" y="2002536"/>
            <a:ext cx="4251960" cy="704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8" name="Shape 46"/>
          <p:cNvSpPr/>
          <p:nvPr/>
        </p:nvSpPr>
        <p:spPr>
          <a:xfrm>
            <a:off x="4892040" y="2148840"/>
            <a:ext cx="420624" cy="42062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Text 47"/>
          <p:cNvSpPr/>
          <p:nvPr/>
        </p:nvSpPr>
        <p:spPr>
          <a:xfrm>
            <a:off x="4892040" y="21488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8348472" y="2093976"/>
            <a:ext cx="548640" cy="219456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1" name="Text 49"/>
          <p:cNvSpPr/>
          <p:nvPr/>
        </p:nvSpPr>
        <p:spPr>
          <a:xfrm>
            <a:off x="8348472" y="2093976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60s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5440680" y="2066544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Invoice Generator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440680" y="2331720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 matter, R3 500 rate, click Generate Preview. Show formatted invoice with all entries and VAT calculation.</a:t>
            </a:r>
            <a:endParaRPr lang="en-US" sz="900" dirty="0"/>
          </a:p>
        </p:txBody>
      </p:sp>
      <p:sp>
        <p:nvSpPr>
          <p:cNvPr id="54" name="Shape 52"/>
          <p:cNvSpPr/>
          <p:nvPr/>
        </p:nvSpPr>
        <p:spPr>
          <a:xfrm>
            <a:off x="4782312" y="2761488"/>
            <a:ext cx="4251960" cy="704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55" name="Shape 53"/>
          <p:cNvSpPr/>
          <p:nvPr/>
        </p:nvSpPr>
        <p:spPr>
          <a:xfrm>
            <a:off x="4892040" y="2907792"/>
            <a:ext cx="420624" cy="42062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6" name="Text 54"/>
          <p:cNvSpPr/>
          <p:nvPr/>
        </p:nvSpPr>
        <p:spPr>
          <a:xfrm>
            <a:off x="4892040" y="290779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48472" y="2852928"/>
            <a:ext cx="548640" cy="219456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8" name="Text 56"/>
          <p:cNvSpPr/>
          <p:nvPr/>
        </p:nvSpPr>
        <p:spPr>
          <a:xfrm>
            <a:off x="8348472" y="2852928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45s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5440680" y="2825496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Analytics Dashboard</a:t>
            </a:r>
            <a:endParaRPr lang="en-US" sz="1100" dirty="0"/>
          </a:p>
        </p:txBody>
      </p:sp>
      <p:sp>
        <p:nvSpPr>
          <p:cNvPr id="60" name="Text 58"/>
          <p:cNvSpPr/>
          <p:nvPr/>
        </p:nvSpPr>
        <p:spPr>
          <a:xfrm>
            <a:off x="5440680" y="3090672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Analytics (5th nav). Show hours by activity type donut, hours by matter bar chart, weekly timeline.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4782312" y="3520440"/>
            <a:ext cx="4251960" cy="704088"/>
          </a:xfrm>
          <a:prstGeom prst="rect">
            <a:avLst/>
          </a:prstGeom>
          <a:solidFill>
            <a:srgbClr val="13161D"/>
          </a:solidFill>
          <a:ln w="12700">
            <a:solidFill>
              <a:srgbClr val="222836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2" name="Shape 60"/>
          <p:cNvSpPr/>
          <p:nvPr/>
        </p:nvSpPr>
        <p:spPr>
          <a:xfrm>
            <a:off x="4892040" y="3666744"/>
            <a:ext cx="420624" cy="420624"/>
          </a:xfrm>
          <a:prstGeom prst="rect">
            <a:avLst/>
          </a:prstGeom>
          <a:solidFill>
            <a:srgbClr val="000000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3" name="Text 61"/>
          <p:cNvSpPr/>
          <p:nvPr/>
        </p:nvSpPr>
        <p:spPr>
          <a:xfrm>
            <a:off x="4892040" y="36667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4CAF8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348472" y="3611880"/>
            <a:ext cx="548640" cy="219456"/>
          </a:xfrm>
          <a:prstGeom prst="rect">
            <a:avLst/>
          </a:prstGeom>
          <a:solidFill>
            <a:srgbClr val="0D0F14"/>
          </a:solidFill>
          <a:ln w="6350">
            <a:solidFill>
              <a:srgbClr val="222836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65" name="Text 63"/>
          <p:cNvSpPr/>
          <p:nvPr/>
        </p:nvSpPr>
        <p:spPr>
          <a:xfrm>
            <a:off x="8348472" y="3611880"/>
            <a:ext cx="548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30s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5440680" y="3584448"/>
            <a:ext cx="3200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to Ghost Practice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40680" y="3849624"/>
            <a:ext cx="3310128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7A82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Push to Ghost Practice. Show success toast. Explain GP API integration layer in production.</a:t>
            </a:r>
            <a:endParaRPr lang="en-US" sz="900" dirty="0"/>
          </a:p>
        </p:txBody>
      </p:sp>
      <p:sp>
        <p:nvSpPr>
          <p:cNvPr id="68" name="Text 66"/>
          <p:cNvSpPr/>
          <p:nvPr/>
        </p:nvSpPr>
        <p:spPr>
          <a:xfrm>
            <a:off x="320040" y="4919472"/>
            <a:ext cx="8503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4A51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Remember: review not retype · auto-detect not reconstruct · GP-ready output · analytics show the value instantly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14630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457200" y="256032"/>
            <a:ext cx="8229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E233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Production Roadmap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457200" y="786384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prototype to production — what comes after assessment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65760" y="1243584"/>
            <a:ext cx="274320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6" name="Shape 4"/>
          <p:cNvSpPr/>
          <p:nvPr/>
        </p:nvSpPr>
        <p:spPr>
          <a:xfrm>
            <a:off x="365760" y="1243584"/>
            <a:ext cx="2743200" cy="512064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502920" y="12618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2920" y="149961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874520" y="131673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1–2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1901952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1" name="Shape 9"/>
          <p:cNvSpPr/>
          <p:nvPr/>
        </p:nvSpPr>
        <p:spPr>
          <a:xfrm>
            <a:off x="502920" y="1901952"/>
            <a:ext cx="36576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2" name="Text 10"/>
          <p:cNvSpPr/>
          <p:nvPr/>
        </p:nvSpPr>
        <p:spPr>
          <a:xfrm>
            <a:off x="603504" y="190195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Microsoft Graph API (Outlook, Calendar, Teams)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02920" y="2560320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4" name="Shape 12"/>
          <p:cNvSpPr/>
          <p:nvPr/>
        </p:nvSpPr>
        <p:spPr>
          <a:xfrm>
            <a:off x="502920" y="2560320"/>
            <a:ext cx="36576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5" name="Text 13"/>
          <p:cNvSpPr/>
          <p:nvPr/>
        </p:nvSpPr>
        <p:spPr>
          <a:xfrm>
            <a:off x="603504" y="25603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Ghost Practice REST API integration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3218688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7" name="Shape 15"/>
          <p:cNvSpPr/>
          <p:nvPr/>
        </p:nvSpPr>
        <p:spPr>
          <a:xfrm>
            <a:off x="502920" y="3218688"/>
            <a:ext cx="36576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18" name="Text 16"/>
          <p:cNvSpPr/>
          <p:nvPr/>
        </p:nvSpPr>
        <p:spPr>
          <a:xfrm>
            <a:off x="603504" y="3218688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Per-attorney authentication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2920" y="3877056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0" name="Shape 18"/>
          <p:cNvSpPr/>
          <p:nvPr/>
        </p:nvSpPr>
        <p:spPr>
          <a:xfrm>
            <a:off x="502920" y="3877056"/>
            <a:ext cx="36576" cy="548640"/>
          </a:xfrm>
          <a:prstGeom prst="rect">
            <a:avLst/>
          </a:prstGeom>
          <a:solidFill>
            <a:srgbClr val="5B8EF0"/>
          </a:solidFill>
          <a:ln w="12700">
            <a:solidFill>
              <a:srgbClr val="5B8EF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1" name="Text 19"/>
          <p:cNvSpPr/>
          <p:nvPr/>
        </p:nvSpPr>
        <p:spPr>
          <a:xfrm>
            <a:off x="603504" y="3877056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Matter sync from GP database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246120" y="1243584"/>
            <a:ext cx="274320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23" name="Shape 21"/>
          <p:cNvSpPr/>
          <p:nvPr/>
        </p:nvSpPr>
        <p:spPr>
          <a:xfrm>
            <a:off x="3246120" y="1243584"/>
            <a:ext cx="2743200" cy="512064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4" name="Text 22"/>
          <p:cNvSpPr/>
          <p:nvPr/>
        </p:nvSpPr>
        <p:spPr>
          <a:xfrm>
            <a:off x="3383280" y="12618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383280" y="149961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54880" y="131673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3–4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3383280" y="1901952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8" name="Shape 26"/>
          <p:cNvSpPr/>
          <p:nvPr/>
        </p:nvSpPr>
        <p:spPr>
          <a:xfrm>
            <a:off x="3383280" y="1901952"/>
            <a:ext cx="36576" cy="5486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29" name="Text 27"/>
          <p:cNvSpPr/>
          <p:nvPr/>
        </p:nvSpPr>
        <p:spPr>
          <a:xfrm>
            <a:off x="3483864" y="190195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narration generation (GPT/Claude API)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3383280" y="2560320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1" name="Shape 29"/>
          <p:cNvSpPr/>
          <p:nvPr/>
        </p:nvSpPr>
        <p:spPr>
          <a:xfrm>
            <a:off x="3383280" y="2560320"/>
            <a:ext cx="36576" cy="5486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2" name="Text 30"/>
          <p:cNvSpPr/>
          <p:nvPr/>
        </p:nvSpPr>
        <p:spPr>
          <a:xfrm>
            <a:off x="3483864" y="25603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Smarter matter matching from history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3383280" y="3218688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4" name="Shape 32"/>
          <p:cNvSpPr/>
          <p:nvPr/>
        </p:nvSpPr>
        <p:spPr>
          <a:xfrm>
            <a:off x="3383280" y="3218688"/>
            <a:ext cx="36576" cy="5486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5" name="Text 33"/>
          <p:cNvSpPr/>
          <p:nvPr/>
        </p:nvSpPr>
        <p:spPr>
          <a:xfrm>
            <a:off x="3483864" y="3218688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 approval queue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3383280" y="3877056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7" name="Shape 35"/>
          <p:cNvSpPr/>
          <p:nvPr/>
        </p:nvSpPr>
        <p:spPr>
          <a:xfrm>
            <a:off x="3383280" y="3877056"/>
            <a:ext cx="36576" cy="54864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8" name="Text 36"/>
          <p:cNvSpPr/>
          <p:nvPr/>
        </p:nvSpPr>
        <p:spPr>
          <a:xfrm>
            <a:off x="3483864" y="3877056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daily reminder notifications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126480" y="1243584"/>
            <a:ext cx="2743200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5E8"/>
            </a:solidFill>
            <a:prstDash val="solid"/>
          </a:ln>
          <a:effectLst>
            <a:outerShdw blurRad="101600" dist="38100" dir="8100000" algn="bl" rotWithShape="0">
              <a:srgbClr val="000000">
                <a:alpha val="22000"/>
              </a:srgbClr>
            </a:outerShdw>
          </a:effectLst>
        </p:spPr>
        <p:txBody>
          <a:bodyPr/>
          <a:lstStyle/>
          <a:p>
            <a:endParaRPr lang="en-ZA"/>
          </a:p>
        </p:txBody>
      </p:sp>
      <p:sp>
        <p:nvSpPr>
          <p:cNvPr id="40" name="Shape 38"/>
          <p:cNvSpPr/>
          <p:nvPr/>
        </p:nvSpPr>
        <p:spPr>
          <a:xfrm>
            <a:off x="6126480" y="1243584"/>
            <a:ext cx="2743200" cy="512064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1" name="Text 39"/>
          <p:cNvSpPr/>
          <p:nvPr/>
        </p:nvSpPr>
        <p:spPr>
          <a:xfrm>
            <a:off x="6263640" y="1261872"/>
            <a:ext cx="1097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6263640" y="1499616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7635240" y="1316736"/>
            <a:ext cx="1097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 5–6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6263640" y="1901952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5" name="Shape 43"/>
          <p:cNvSpPr/>
          <p:nvPr/>
        </p:nvSpPr>
        <p:spPr>
          <a:xfrm>
            <a:off x="6263640" y="1901952"/>
            <a:ext cx="36576" cy="54864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6" name="Text 44"/>
          <p:cNvSpPr/>
          <p:nvPr/>
        </p:nvSpPr>
        <p:spPr>
          <a:xfrm>
            <a:off x="6364224" y="1901952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app (React Native) for on-the-go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6263640" y="2560320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8" name="Shape 46"/>
          <p:cNvSpPr/>
          <p:nvPr/>
        </p:nvSpPr>
        <p:spPr>
          <a:xfrm>
            <a:off x="6263640" y="2560320"/>
            <a:ext cx="36576" cy="54864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49" name="Text 47"/>
          <p:cNvSpPr/>
          <p:nvPr/>
        </p:nvSpPr>
        <p:spPr>
          <a:xfrm>
            <a:off x="6364224" y="2560320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Multi-user team billing dashboards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263640" y="3218688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1" name="Shape 49"/>
          <p:cNvSpPr/>
          <p:nvPr/>
        </p:nvSpPr>
        <p:spPr>
          <a:xfrm>
            <a:off x="6263640" y="3218688"/>
            <a:ext cx="36576" cy="54864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2" name="Text 50"/>
          <p:cNvSpPr/>
          <p:nvPr/>
        </p:nvSpPr>
        <p:spPr>
          <a:xfrm>
            <a:off x="6364224" y="3218688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report generation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6263640" y="3877056"/>
            <a:ext cx="2468880" cy="548640"/>
          </a:xfrm>
          <a:prstGeom prst="rect">
            <a:avLst/>
          </a:prstGeom>
          <a:solidFill>
            <a:srgbClr val="F4F6F9"/>
          </a:solidFill>
          <a:ln w="6350">
            <a:solidFill>
              <a:srgbClr val="D0D5E8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4" name="Shape 52"/>
          <p:cNvSpPr/>
          <p:nvPr/>
        </p:nvSpPr>
        <p:spPr>
          <a:xfrm>
            <a:off x="6263640" y="3877056"/>
            <a:ext cx="36576" cy="548640"/>
          </a:xfrm>
          <a:prstGeom prst="rect">
            <a:avLst/>
          </a:prstGeom>
          <a:solidFill>
            <a:srgbClr val="4CAF82"/>
          </a:solidFill>
          <a:ln w="12700">
            <a:solidFill>
              <a:srgbClr val="4CAF82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55" name="Text 53"/>
          <p:cNvSpPr/>
          <p:nvPr/>
        </p:nvSpPr>
        <p:spPr>
          <a:xfrm>
            <a:off x="6364224" y="3877056"/>
            <a:ext cx="23042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A42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POPIA audit trail + data export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365760" y="4956048"/>
            <a:ext cx="8412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5A64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prototype today is Phase 0 — fully functional, ready to demonstrate core value. Production integration follows this exact architecture.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D0F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C9A84C"/>
          </a:solidFill>
          <a:ln w="12700">
            <a:solidFill>
              <a:srgbClr val="C9A84C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3" name="Text 1"/>
          <p:cNvSpPr/>
          <p:nvPr/>
        </p:nvSpPr>
        <p:spPr>
          <a:xfrm>
            <a:off x="457200" y="685800"/>
            <a:ext cx="29260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7200" dirty="0">
                <a:solidFill>
                  <a:srgbClr val="0D0F14"/>
                </a:solidFill>
              </a:rPr>
              <a:t>⚖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274320" y="166420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D0F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TimeLex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274320" y="2304288"/>
            <a:ext cx="329184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i="1" dirty="0">
                <a:solidFill>
                  <a:srgbClr val="0D0F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Stop reconstructing.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i="1" dirty="0">
                <a:solidFill>
                  <a:srgbClr val="0D0F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Start billing.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3246120"/>
            <a:ext cx="2926080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  <p:txBody>
          <a:bodyPr/>
          <a:lstStyle/>
          <a:p>
            <a:endParaRPr lang="en-ZA"/>
          </a:p>
        </p:txBody>
      </p:sp>
      <p:sp>
        <p:nvSpPr>
          <p:cNvPr id="7" name="Text 5"/>
          <p:cNvSpPr/>
          <p:nvPr/>
        </p:nvSpPr>
        <p:spPr>
          <a:xfrm>
            <a:off x="274320" y="3383280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Kone Tshivhinda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3639312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kern="0" spc="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 PROTOTYPE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274320" y="4005072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github.com/konethegreat/</a:t>
            </a:r>
            <a:endParaRPr lang="en-US" sz="900" dirty="0"/>
          </a:p>
          <a:p>
            <a:pPr marL="0" indent="0" algn="ctr">
              <a:buNone/>
            </a:pPr>
            <a:r>
              <a:rPr lang="en-US" sz="900" i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timelex-automated-time-tracking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069080" y="804672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dirty="0">
                <a:solidFill>
                  <a:srgbClr val="E8EA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4069080" y="1645920"/>
            <a:ext cx="4754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 built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069080" y="2029968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✉  Auto-capture engine — 5 types, 7 integration classes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69080" y="2404872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◈  Draft &amp; approve — 1 click instead of hours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069080" y="2779776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◫  Live dashboard with real-time billing targets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069080" y="3154680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⚖  Self-service invoice generator with VAT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069080" y="3529584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◉  Analytics — charts, export, matter breakdown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069080" y="3904488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Ghost Practice integration layer (API-ready)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069080" y="4279392"/>
            <a:ext cx="4663440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EA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  9 source files · localStorage · keyboard shortcuts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069080" y="457200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C9A84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2414</Words>
  <Application>Microsoft Office PowerPoint</Application>
  <PresentationFormat>On-screen Show (16:9)</PresentationFormat>
  <Paragraphs>519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TimeLex — Automated Legal Time Capture</dc:title>
  <dc:subject>PptxGenJS Presentation</dc:subject>
  <dc:creator>Kone Tshivhinda</dc:creator>
  <cp:lastModifiedBy>Kone Tshivhinda</cp:lastModifiedBy>
  <cp:revision>3</cp:revision>
  <dcterms:created xsi:type="dcterms:W3CDTF">2026-05-07T19:43:46Z</dcterms:created>
  <dcterms:modified xsi:type="dcterms:W3CDTF">2026-05-07T19:49:25Z</dcterms:modified>
</cp:coreProperties>
</file>