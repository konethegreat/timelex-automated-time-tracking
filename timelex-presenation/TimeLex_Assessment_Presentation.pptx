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000" b="0" i="0" u="none" strike="noStrike">
                <a:solidFill>
                  <a:srgbClr val="000000"/>
                </a:solidFill>
                <a:latin typeface="Arial"/>
              </a:rPr>
              <a:t>Estimated Hours Recovered Per Month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Hours Recovered/Month</c:v>
                </c:pt>
              </c:strCache>
            </c:strRef>
          </c:tx>
          <c:spPr>
            <a:solidFill>
              <a:srgbClr val="C9A84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Email</c:v>
                  </c:pt>
                  <c:pt idx="1">
                    <c:v>Calls</c:v>
                  </c:pt>
                  <c:pt idx="2">
                    <c:v>Meetings</c:v>
                  </c:pt>
                  <c:pt idx="3">
                    <c:v>Docs</c:v>
                  </c:pt>
                  <c:pt idx="4">
                    <c:v>Research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8.5</c:v>
                </c:pt>
                <c:pt idx="1">
                  <c:v>3.2</c:v>
                </c:pt>
                <c:pt idx="2">
                  <c:v>5.1</c:v>
                </c:pt>
                <c:pt idx="3">
                  <c:v>6.8</c:v>
                </c:pt>
                <c:pt idx="4">
                  <c:v>2.4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5143500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0" y="0"/>
            <a:ext cx="50292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C9A84C"/>
                </a:solidFill>
              </a:rPr>
              <a:t>⚖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02920" y="16002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TimeLex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300" kern="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LEGAL TIME CAPTURE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2788920"/>
            <a:ext cx="3200400" cy="0"/>
          </a:xfrm>
          <a:prstGeom prst="line">
            <a:avLst/>
          </a:prstGeom>
          <a:noFill/>
          <a:ln w="12700">
            <a:solidFill>
              <a:srgbClr val="22283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29718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Kone Tshivhinda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74320" y="32461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A5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Prototype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0" y="9144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 Motsoeneng Bill Attorneys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0" y="137160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Software Engineer Assessment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8E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4572000" y="2514600"/>
            <a:ext cx="4114800" cy="0"/>
          </a:xfrm>
          <a:prstGeom prst="line">
            <a:avLst/>
          </a:prstGeom>
          <a:noFill/>
          <a:ln w="12700">
            <a:solidFill>
              <a:srgbClr val="22283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28346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 Auto-Capture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0" y="33375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  Draft &amp; Approve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0" y="384048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◫  Invoice Generator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0" y="46177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A5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Deadline: 7 May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attorneys lose billable time every single day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261872"/>
            <a:ext cx="4297680" cy="3474720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261872"/>
            <a:ext cx="50292" cy="347472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4173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Manual Time Capture Trap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7452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1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Attorneys reconstruct their day at end of day — or end of month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94360" y="2322576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1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email, call, meeting must be manually typed into Ghost Practice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94360" y="2770632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1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is lost, misallocated or simply forgotten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94360" y="3218688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1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Inaccurate billing damages client trust and firm revenue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94360" y="3666744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1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Ghost Practice costs R33 925/month — yet input is still manual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94360" y="411480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1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Litigation attorneys handle thousands of emails per month alone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983480" y="1261872"/>
            <a:ext cx="1828800" cy="1005840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120640" y="1426464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5074920" y="1920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lost per month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(Anchané Botha)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440" y="1261872"/>
            <a:ext cx="1828800" cy="1005840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086600" y="1426464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R33k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7040880" y="1920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of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Ghost Practice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983480" y="2423160"/>
            <a:ext cx="1828800" cy="1005840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120640" y="25877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B8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1000+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5074920" y="30815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Emails/month in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litigation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9440" y="2423160"/>
            <a:ext cx="1828800" cy="1005840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086600" y="25877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~40%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7040880" y="30815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time lost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reconstruction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3547872"/>
            <a:ext cx="3794760" cy="1143000"/>
          </a:xfrm>
          <a:prstGeom prst="rect">
            <a:avLst/>
          </a:prstGeom>
          <a:solidFill>
            <a:srgbClr val="181C25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166360" y="3639312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"Billing emails is extremely tedious. I lose 2–3 days a month just catching up on fees."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166360" y="431596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Anchané Botha, Survey Respondent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Survey Insights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MB attorneys told us — directly informing TimeLex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4251960" cy="1170432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234440"/>
            <a:ext cx="50292" cy="1170432"/>
          </a:xfrm>
          <a:prstGeom prst="rect">
            <a:avLst/>
          </a:prstGeom>
          <a:solidFill>
            <a:srgbClr val="5B8EF0"/>
          </a:solidFill>
          <a:ln w="12700">
            <a:solidFill>
              <a:srgbClr val="5B8E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307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8EF0"/>
                </a:solidFill>
              </a:rPr>
              <a:t>✉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86968" y="13075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Stephanie Chetty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86968" y="154533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 Partner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86968" y="1764792"/>
            <a:ext cx="3474720" cy="0"/>
          </a:xfrm>
          <a:prstGeom prst="line">
            <a:avLst/>
          </a:prstGeom>
          <a:noFill/>
          <a:ln w="6350">
            <a:solidFill>
              <a:srgbClr val="22283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6968" y="180136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Pain: Email billing is tedious — thousands of emails per month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86968" y="205740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8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Auto-detect emails, draft entry per email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" y="2496312"/>
            <a:ext cx="4251960" cy="1170432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" y="2496312"/>
            <a:ext cx="50292" cy="117043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56946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A84C"/>
                </a:solidFill>
              </a:rPr>
              <a:t>◫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86968" y="256946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Anchané Botha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86968" y="280720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Attorney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86968" y="3026664"/>
            <a:ext cx="3474720" cy="0"/>
          </a:xfrm>
          <a:prstGeom prst="line">
            <a:avLst/>
          </a:prstGeom>
          <a:noFill/>
          <a:ln w="6350">
            <a:solidFill>
              <a:srgbClr val="22283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6968" y="306324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Pain: Lose 2-3 days/month to fee capture. Can't generate own invoices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86968" y="331927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Continuous capture + self-service invoice view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20040" y="3758184"/>
            <a:ext cx="4251960" cy="1170432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" y="3758184"/>
            <a:ext cx="50292" cy="1170432"/>
          </a:xfrm>
          <a:prstGeom prst="rect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383133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CAF82"/>
                </a:solidFill>
              </a:rPr>
              <a:t>◈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86968" y="383133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Lerato Motlhabi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86968" y="406908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Paralegal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86968" y="4288536"/>
            <a:ext cx="3474720" cy="0"/>
          </a:xfrm>
          <a:prstGeom prst="line">
            <a:avLst/>
          </a:prstGeom>
          <a:noFill/>
          <a:ln w="6350">
            <a:solidFill>
              <a:srgbClr val="22283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6968" y="432511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Pain: Want real-time tracking of hours against daily/monthly targets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86968" y="458114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Live dashboard with billing target progress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754880" y="1234440"/>
            <a:ext cx="4251960" cy="1170432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54880" y="1234440"/>
            <a:ext cx="50292" cy="117043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92040" y="1307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A84C"/>
                </a:solidFill>
              </a:rPr>
              <a:t>⏰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321808" y="13075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Johan Biggs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321808" y="154533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321808" y="1764792"/>
            <a:ext cx="3474720" cy="0"/>
          </a:xfrm>
          <a:prstGeom prst="line">
            <a:avLst/>
          </a:prstGeom>
          <a:noFill/>
          <a:ln w="6350">
            <a:solidFill>
              <a:srgbClr val="22283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21808" y="180136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Pain: System should remind attorneys to post fees daily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321808" y="205740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In-app daily capture prompts + real-time stats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754880" y="2496312"/>
            <a:ext cx="4251960" cy="1170432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54880" y="2496312"/>
            <a:ext cx="50292" cy="1170432"/>
          </a:xfrm>
          <a:prstGeom prst="rect">
            <a:avLst/>
          </a:prstGeom>
          <a:solidFill>
            <a:srgbClr val="5B8EF0"/>
          </a:solidFill>
          <a:ln w="12700">
            <a:solidFill>
              <a:srgbClr val="5B8E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92040" y="256946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8EF0"/>
                </a:solidFill>
              </a:rPr>
              <a:t>◎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5321808" y="256946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Noluthando Matshata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321808" y="280720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Attorney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21808" y="3026664"/>
            <a:ext cx="3474720" cy="0"/>
          </a:xfrm>
          <a:prstGeom prst="line">
            <a:avLst/>
          </a:prstGeom>
          <a:noFill/>
          <a:ln w="6350">
            <a:solidFill>
              <a:srgbClr val="22283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21808" y="306324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Pain: Duplicate effort — capture once in system, again for billing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321808" y="331927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8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One approval click instead of full re-entry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754880" y="3758184"/>
            <a:ext cx="4251960" cy="1170432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754880" y="3758184"/>
            <a:ext cx="50292" cy="1170432"/>
          </a:xfrm>
          <a:prstGeom prst="rect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92040" y="383133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CAF82"/>
                </a:solidFill>
              </a:rPr>
              <a:t>★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5321808" y="383133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Tony Tshivahse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321808" y="406908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321808" y="4288536"/>
            <a:ext cx="3474720" cy="0"/>
          </a:xfrm>
          <a:prstGeom prst="line">
            <a:avLst/>
          </a:prstGeom>
          <a:noFill/>
          <a:ln w="6350">
            <a:solidFill>
              <a:srgbClr val="22283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321808" y="432511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Pain: Ghost Practice is not user friendly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321808" y="458114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Clean, minimal UI — review not retype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3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 1 — Existing Tools Research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evaluation: strengths, weaknesses &amp; applicability to MB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207008"/>
            <a:ext cx="1463040" cy="347472"/>
          </a:xfrm>
          <a:prstGeom prst="rect">
            <a:avLst/>
          </a:prstGeom>
          <a:solidFill>
            <a:srgbClr val="1E2335"/>
          </a:solidFill>
          <a:ln w="12700">
            <a:solidFill>
              <a:srgbClr val="1E23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93192" y="120700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783080" y="1207008"/>
            <a:ext cx="2560320" cy="347472"/>
          </a:xfrm>
          <a:prstGeom prst="rect">
            <a:avLst/>
          </a:prstGeom>
          <a:solidFill>
            <a:srgbClr val="1E2335"/>
          </a:solidFill>
          <a:ln w="12700">
            <a:solidFill>
              <a:srgbClr val="1E23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56232" y="120700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43400" y="1207008"/>
            <a:ext cx="2560320" cy="347472"/>
          </a:xfrm>
          <a:prstGeom prst="rect">
            <a:avLst/>
          </a:prstGeom>
          <a:solidFill>
            <a:srgbClr val="1E2335"/>
          </a:solidFill>
          <a:ln w="12700">
            <a:solidFill>
              <a:srgbClr val="1E23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16552" y="120700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903720" y="1207008"/>
            <a:ext cx="822960" cy="347472"/>
          </a:xfrm>
          <a:prstGeom prst="rect">
            <a:avLst/>
          </a:prstGeom>
          <a:solidFill>
            <a:srgbClr val="1E2335"/>
          </a:solidFill>
          <a:ln w="12700">
            <a:solidFill>
              <a:srgbClr val="1E233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872" y="1207008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1554480"/>
            <a:ext cx="14630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83080" y="1554480"/>
            <a:ext cx="25603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25603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03720" y="1554480"/>
            <a:ext cx="8229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3192" y="15544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 Track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856232" y="15544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intuitive UI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416552" y="15544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legal integrations, no matter system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13448" y="1645920"/>
            <a:ext cx="594360" cy="320040"/>
          </a:xfrm>
          <a:prstGeom prst="rect">
            <a:avLst>
              <a:gd name="adj" fmla="val 14286"/>
            </a:avLst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13448" y="1645920"/>
            <a:ext cx="594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0040" y="2103120"/>
            <a:ext cx="1463040" cy="502920"/>
          </a:xfrm>
          <a:prstGeom prst="rect">
            <a:avLst/>
          </a:prstGeom>
          <a:solidFill>
            <a:srgbClr val="F4F6F9"/>
          </a:solidFill>
          <a:ln w="6350">
            <a:solidFill>
              <a:srgbClr val="D8DC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83080" y="2103120"/>
            <a:ext cx="2560320" cy="502920"/>
          </a:xfrm>
          <a:prstGeom prst="rect">
            <a:avLst/>
          </a:prstGeom>
          <a:solidFill>
            <a:srgbClr val="F4F6F9"/>
          </a:solidFill>
          <a:ln w="6350">
            <a:solidFill>
              <a:srgbClr val="D8DC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43400" y="2103120"/>
            <a:ext cx="2560320" cy="502920"/>
          </a:xfrm>
          <a:prstGeom prst="rect">
            <a:avLst/>
          </a:prstGeom>
          <a:solidFill>
            <a:srgbClr val="F4F6F9"/>
          </a:solidFill>
          <a:ln w="6350">
            <a:solidFill>
              <a:srgbClr val="D8DC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03720" y="2103120"/>
            <a:ext cx="822960" cy="502920"/>
          </a:xfrm>
          <a:prstGeom prst="rect">
            <a:avLst/>
          </a:prstGeom>
          <a:solidFill>
            <a:srgbClr val="F4F6F9"/>
          </a:solidFill>
          <a:ln w="6350">
            <a:solidFill>
              <a:srgbClr val="D8DC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3192" y="21031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Clio Manage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856232" y="21031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legal PMS, time + billing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416552" y="21031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Expensive, not GP-integrated, overseas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13448" y="2194560"/>
            <a:ext cx="594360" cy="320040"/>
          </a:xfrm>
          <a:prstGeom prst="rect">
            <a:avLst>
              <a:gd name="adj" fmla="val 14286"/>
            </a:avLst>
          </a:prstGeom>
          <a:solidFill>
            <a:srgbClr val="E08A3C"/>
          </a:solidFill>
          <a:ln w="12700">
            <a:solidFill>
              <a:srgbClr val="E08A3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13448" y="2194560"/>
            <a:ext cx="594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20040" y="2651760"/>
            <a:ext cx="14630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783080" y="2651760"/>
            <a:ext cx="25603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43400" y="2651760"/>
            <a:ext cx="25603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903720" y="2651760"/>
            <a:ext cx="8229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93192" y="26517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TimeSolv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856232" y="26517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Legal-specific time tracking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16552" y="26517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US-focused, no SA GP integration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013448" y="2743200"/>
            <a:ext cx="594360" cy="320040"/>
          </a:xfrm>
          <a:prstGeom prst="rect">
            <a:avLst>
              <a:gd name="adj" fmla="val 14286"/>
            </a:avLst>
          </a:prstGeom>
          <a:solidFill>
            <a:srgbClr val="E08A3C"/>
          </a:solidFill>
          <a:ln w="12700">
            <a:solidFill>
              <a:srgbClr val="E08A3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013448" y="2743200"/>
            <a:ext cx="594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20040" y="3200400"/>
            <a:ext cx="1463040" cy="502920"/>
          </a:xfrm>
          <a:prstGeom prst="rect">
            <a:avLst/>
          </a:prstGeom>
          <a:solidFill>
            <a:srgbClr val="F4F6F9"/>
          </a:solidFill>
          <a:ln w="6350">
            <a:solidFill>
              <a:srgbClr val="D8DCE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783080" y="3200400"/>
            <a:ext cx="2560320" cy="502920"/>
          </a:xfrm>
          <a:prstGeom prst="rect">
            <a:avLst/>
          </a:prstGeom>
          <a:solidFill>
            <a:srgbClr val="F4F6F9"/>
          </a:solidFill>
          <a:ln w="6350">
            <a:solidFill>
              <a:srgbClr val="D8DCE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343400" y="3200400"/>
            <a:ext cx="2560320" cy="502920"/>
          </a:xfrm>
          <a:prstGeom prst="rect">
            <a:avLst/>
          </a:prstGeom>
          <a:solidFill>
            <a:srgbClr val="F4F6F9"/>
          </a:solidFill>
          <a:ln w="6350">
            <a:solidFill>
              <a:srgbClr val="D8DCE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03720" y="3200400"/>
            <a:ext cx="822960" cy="502920"/>
          </a:xfrm>
          <a:prstGeom prst="rect">
            <a:avLst/>
          </a:prstGeom>
          <a:solidFill>
            <a:srgbClr val="F4F6F9"/>
          </a:solidFill>
          <a:ln w="6350">
            <a:solidFill>
              <a:srgbClr val="D8DC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3192" y="32004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Harvest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1856232" y="3200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UX, Outlook add-in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4416552" y="3200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Generic, no matter classification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7013448" y="3291840"/>
            <a:ext cx="594360" cy="320040"/>
          </a:xfrm>
          <a:prstGeom prst="rect">
            <a:avLst>
              <a:gd name="adj" fmla="val 14286"/>
            </a:avLst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013448" y="3291840"/>
            <a:ext cx="594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20040" y="3749040"/>
            <a:ext cx="14630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783080" y="3749040"/>
            <a:ext cx="25603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343400" y="3749040"/>
            <a:ext cx="25603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903720" y="3749040"/>
            <a:ext cx="8229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93192" y="37490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Ghost Practice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1856232" y="37490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MB integration, already in use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4416552" y="37490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Purely manual — no auto-capture at all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7013448" y="3840480"/>
            <a:ext cx="594360" cy="320040"/>
          </a:xfrm>
          <a:prstGeom prst="rect">
            <a:avLst>
              <a:gd name="adj" fmla="val 14286"/>
            </a:avLst>
          </a:prstGeom>
          <a:solidFill>
            <a:srgbClr val="5B8EF0"/>
          </a:solidFill>
          <a:ln w="12700">
            <a:solidFill>
              <a:srgbClr val="5B8E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13448" y="3840480"/>
            <a:ext cx="594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320040" y="4297680"/>
            <a:ext cx="1463040" cy="502920"/>
          </a:xfrm>
          <a:prstGeom prst="rect">
            <a:avLst/>
          </a:prstGeom>
          <a:solidFill>
            <a:srgbClr val="EAF7F1"/>
          </a:solidFill>
          <a:ln w="6350">
            <a:solidFill>
              <a:srgbClr val="D8DCE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783080" y="4297680"/>
            <a:ext cx="2560320" cy="502920"/>
          </a:xfrm>
          <a:prstGeom prst="rect">
            <a:avLst/>
          </a:prstGeom>
          <a:solidFill>
            <a:srgbClr val="EAF7F1"/>
          </a:solidFill>
          <a:ln w="6350">
            <a:solidFill>
              <a:srgbClr val="D8DCE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343400" y="4297680"/>
            <a:ext cx="2560320" cy="502920"/>
          </a:xfrm>
          <a:prstGeom prst="rect">
            <a:avLst/>
          </a:prstGeom>
          <a:solidFill>
            <a:srgbClr val="EAF7F1"/>
          </a:solidFill>
          <a:ln w="6350">
            <a:solidFill>
              <a:srgbClr val="D8DCE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903720" y="4297680"/>
            <a:ext cx="822960" cy="502920"/>
          </a:xfrm>
          <a:prstGeom prst="rect">
            <a:avLst/>
          </a:prstGeom>
          <a:solidFill>
            <a:srgbClr val="EAF7F1"/>
          </a:solidFill>
          <a:ln w="6350">
            <a:solidFill>
              <a:srgbClr val="D8DCE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93192" y="42976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TimeLex (ours)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1856232" y="42976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Auto-capture + GP integration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4416552" y="42976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— needs production build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7013448" y="4389120"/>
            <a:ext cx="594360" cy="320040"/>
          </a:xfrm>
          <a:prstGeom prst="rect">
            <a:avLst>
              <a:gd name="adj" fmla="val 14286"/>
            </a:avLst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013448" y="4389120"/>
            <a:ext cx="594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320040" y="475488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No existing tool auto-captures activity AND integrates natively with Ghost Practice — that gap is exactly what TimeLex fills.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 2 — Proposed Solution: TimeLex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capture → attorney review → Ghost Practice sync → invoice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1463040" cy="2286000"/>
          </a:xfrm>
          <a:prstGeom prst="rect">
            <a:avLst/>
          </a:prstGeom>
          <a:solidFill>
            <a:srgbClr val="13161D"/>
          </a:solidFill>
          <a:ln w="19050">
            <a:solidFill>
              <a:srgbClr val="5B8E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234440"/>
            <a:ext cx="1463040" cy="109728"/>
          </a:xfrm>
          <a:prstGeom prst="rect">
            <a:avLst/>
          </a:prstGeom>
          <a:solidFill>
            <a:srgbClr val="5B8EF0"/>
          </a:solidFill>
          <a:ln w="12700">
            <a:solidFill>
              <a:srgbClr val="5B8E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34416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8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0040" y="166420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5B8EF0"/>
                </a:solidFill>
              </a:rPr>
              <a:t>◉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" y="217627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Detection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93192" y="2496312"/>
            <a:ext cx="1316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/ Teams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783080" y="2377440"/>
            <a:ext cx="109728" cy="0"/>
          </a:xfrm>
          <a:prstGeom prst="line">
            <a:avLst/>
          </a:prstGeom>
          <a:noFill/>
          <a:ln w="19050">
            <a:solidFill>
              <a:srgbClr val="C9A84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46504" y="226771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84C"/>
                </a:solidFill>
              </a:rPr>
              <a:t>›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892808" y="1234440"/>
            <a:ext cx="1463040" cy="2286000"/>
          </a:xfrm>
          <a:prstGeom prst="rect">
            <a:avLst/>
          </a:prstGeom>
          <a:solidFill>
            <a:srgbClr val="13161D"/>
          </a:solidFill>
          <a:ln w="19050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892808" y="1234440"/>
            <a:ext cx="1463040" cy="10972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92808" y="134416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892808" y="166420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9A84C"/>
                </a:solidFill>
              </a:rPr>
              <a:t>◎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1938528" y="217627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Classification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965960" y="2496312"/>
            <a:ext cx="1316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classifies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type &amp;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355848" y="2377440"/>
            <a:ext cx="109728" cy="0"/>
          </a:xfrm>
          <a:prstGeom prst="line">
            <a:avLst/>
          </a:prstGeom>
          <a:noFill/>
          <a:ln w="19050">
            <a:solidFill>
              <a:srgbClr val="C9A84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19272" y="226771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84C"/>
                </a:solidFill>
              </a:rPr>
              <a:t>›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465576" y="1234440"/>
            <a:ext cx="1463040" cy="2286000"/>
          </a:xfrm>
          <a:prstGeom prst="rect">
            <a:avLst/>
          </a:prstGeom>
          <a:solidFill>
            <a:srgbClr val="13161D"/>
          </a:solidFill>
          <a:ln w="19050">
            <a:solidFill>
              <a:srgbClr val="E08A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465576" y="1234440"/>
            <a:ext cx="1463040" cy="109728"/>
          </a:xfrm>
          <a:prstGeom prst="rect">
            <a:avLst/>
          </a:prstGeom>
          <a:solidFill>
            <a:srgbClr val="E08A3C"/>
          </a:solidFill>
          <a:ln w="12700">
            <a:solidFill>
              <a:srgbClr val="E08A3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65576" y="134416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8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465576" y="166420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E08A3C"/>
                </a:solidFill>
              </a:rPr>
              <a:t>◈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3511296" y="217627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Generation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538728" y="2496312"/>
            <a:ext cx="1316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entry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for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attorney review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928616" y="2377440"/>
            <a:ext cx="109728" cy="0"/>
          </a:xfrm>
          <a:prstGeom prst="line">
            <a:avLst/>
          </a:prstGeom>
          <a:noFill/>
          <a:ln w="19050">
            <a:solidFill>
              <a:srgbClr val="C9A84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92040" y="226771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84C"/>
                </a:solidFill>
              </a:rPr>
              <a:t>›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038344" y="1234440"/>
            <a:ext cx="1463040" cy="2286000"/>
          </a:xfrm>
          <a:prstGeom prst="rect">
            <a:avLst/>
          </a:prstGeom>
          <a:solidFill>
            <a:srgbClr val="13161D"/>
          </a:solidFill>
          <a:ln w="19050">
            <a:solidFill>
              <a:srgbClr val="4CAF8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038344" y="1234440"/>
            <a:ext cx="1463040" cy="109728"/>
          </a:xfrm>
          <a:prstGeom prst="rect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38344" y="134416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038344" y="166420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4CAF82"/>
                </a:solidFill>
              </a:rPr>
              <a:t>✓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5084064" y="217627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Attorney Approval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111496" y="2496312"/>
            <a:ext cx="1316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or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matter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501384" y="2377440"/>
            <a:ext cx="109728" cy="0"/>
          </a:xfrm>
          <a:prstGeom prst="line">
            <a:avLst/>
          </a:prstGeom>
          <a:noFill/>
          <a:ln w="19050">
            <a:solidFill>
              <a:srgbClr val="C9A84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64808" y="226771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84C"/>
                </a:solidFill>
              </a:rPr>
              <a:t>›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611112" y="1234440"/>
            <a:ext cx="1463040" cy="2286000"/>
          </a:xfrm>
          <a:prstGeom prst="rect">
            <a:avLst/>
          </a:prstGeom>
          <a:solidFill>
            <a:srgbClr val="13161D"/>
          </a:solidFill>
          <a:ln w="19050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611112" y="1234440"/>
            <a:ext cx="1463040" cy="10972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11112" y="134416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611112" y="166420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9A84C"/>
                </a:solidFill>
              </a:rPr>
              <a:t>◫</a:t>
            </a:r>
            <a:endParaRPr lang="en-US" sz="2800" dirty="0"/>
          </a:p>
        </p:txBody>
      </p:sp>
      <p:sp>
        <p:nvSpPr>
          <p:cNvPr id="41" name="Text 39"/>
          <p:cNvSpPr/>
          <p:nvPr/>
        </p:nvSpPr>
        <p:spPr>
          <a:xfrm>
            <a:off x="6656832" y="217627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Output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684264" y="2496312"/>
            <a:ext cx="1316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to GP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20040" y="3703320"/>
            <a:ext cx="2057400" cy="1188720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457200" y="379476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re-typing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57200" y="4096512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Attorney approves, never re-enters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2496312" y="3703320"/>
            <a:ext cx="2057400" cy="1188720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2633472" y="379476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6-min unit accuracy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2633472" y="4096512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legal billing precision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672584" y="3703320"/>
            <a:ext cx="2057400" cy="1188720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4809744" y="379476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GP-ready output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4809744" y="4096512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for Ghost Practice API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848856" y="3703320"/>
            <a:ext cx="2057400" cy="1188720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6986016" y="379476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invoices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6986016" y="4096512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secretary required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1 — Auto-Capture Engine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capture-engine.js  ·  Simulates real-time activity detection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207008"/>
            <a:ext cx="1572768" cy="365760"/>
          </a:xfrm>
          <a:prstGeom prst="rect">
            <a:avLst/>
          </a:prstGeom>
          <a:solidFill>
            <a:srgbClr val="0D2E1F"/>
          </a:solidFill>
          <a:ln w="12700">
            <a:solidFill>
              <a:srgbClr val="4CAF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2070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  Outlook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075688" y="1207008"/>
            <a:ext cx="1572768" cy="365760"/>
          </a:xfrm>
          <a:prstGeom prst="rect">
            <a:avLst/>
          </a:prstGeom>
          <a:solidFill>
            <a:srgbClr val="0D2E1F"/>
          </a:solidFill>
          <a:ln w="12700">
            <a:solidFill>
              <a:srgbClr val="4CAF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30552" y="12070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Google Calendar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785616" y="1207008"/>
            <a:ext cx="1572768" cy="365760"/>
          </a:xfrm>
          <a:prstGeom prst="rect">
            <a:avLst/>
          </a:prstGeom>
          <a:solidFill>
            <a:srgbClr val="0D2E1F"/>
          </a:solidFill>
          <a:ln w="12700">
            <a:solidFill>
              <a:srgbClr val="4CAF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0" y="12070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 Word / Docs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95544" y="1207008"/>
            <a:ext cx="1572768" cy="365760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50408" y="12070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📞  Teams / Calls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205472" y="1207008"/>
            <a:ext cx="1572768" cy="365760"/>
          </a:xfrm>
          <a:prstGeom prst="rect">
            <a:avLst/>
          </a:prstGeom>
          <a:solidFill>
            <a:srgbClr val="0D2E1F"/>
          </a:solidFill>
          <a:ln w="12700">
            <a:solidFill>
              <a:srgbClr val="4CAF8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60336" y="12070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Ghost Practice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1755648"/>
            <a:ext cx="4114800" cy="566928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1755648"/>
            <a:ext cx="50292" cy="56692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920" y="1847088"/>
            <a:ext cx="365760" cy="365760"/>
          </a:xfrm>
          <a:prstGeom prst="rect">
            <a:avLst/>
          </a:prstGeom>
          <a:solidFill>
            <a:srgbClr val="000000"/>
          </a:solidFill>
          <a:ln w="12700">
            <a:solidFill>
              <a:srgbClr val="5B8E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1847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8EF0"/>
                </a:solidFill>
              </a:rPr>
              <a:t>✉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60120" y="18288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60120" y="206654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Subject, sender, thread detected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291840" y="1847088"/>
            <a:ext cx="1005840" cy="347472"/>
          </a:xfrm>
          <a:prstGeom prst="rect">
            <a:avLst/>
          </a:prstGeom>
          <a:solidFill>
            <a:srgbClr val="000000"/>
          </a:solidFill>
          <a:ln w="6350">
            <a:solidFill>
              <a:srgbClr val="5B8E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91840" y="1847088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8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units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2377440"/>
            <a:ext cx="4114800" cy="566928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65760" y="2377440"/>
            <a:ext cx="50292" cy="56692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2468880"/>
            <a:ext cx="365760" cy="365760"/>
          </a:xfrm>
          <a:prstGeom prst="rect">
            <a:avLst/>
          </a:prstGeom>
          <a:solidFill>
            <a:srgbClr val="000000"/>
          </a:solidFill>
          <a:ln w="12700">
            <a:solidFill>
              <a:srgbClr val="4CAF8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CAF82"/>
                </a:solidFill>
              </a:rPr>
              <a:t>📅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245059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60120" y="268833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 from calendar event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291840" y="2468880"/>
            <a:ext cx="1005840" cy="347472"/>
          </a:xfrm>
          <a:prstGeom prst="rect">
            <a:avLst/>
          </a:prstGeom>
          <a:solidFill>
            <a:srgbClr val="000000"/>
          </a:solidFill>
          <a:ln w="6350">
            <a:solidFill>
              <a:srgbClr val="4CAF8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46888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5–10 units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65760" y="2999232"/>
            <a:ext cx="4114800" cy="566928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65760" y="2999232"/>
            <a:ext cx="50292" cy="56692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3090672"/>
            <a:ext cx="365760" cy="365760"/>
          </a:xfrm>
          <a:prstGeom prst="rect">
            <a:avLst/>
          </a:prstGeom>
          <a:solidFill>
            <a:srgbClr val="000000"/>
          </a:solidFill>
          <a:ln w="12700">
            <a:solidFill>
              <a:srgbClr val="5B8E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3090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8EF0"/>
                </a:solidFill>
              </a:rPr>
              <a:t>📄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60120" y="3072384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60120" y="331012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open/edit time tracked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291840" y="3090672"/>
            <a:ext cx="1005840" cy="347472"/>
          </a:xfrm>
          <a:prstGeom prst="rect">
            <a:avLst/>
          </a:prstGeom>
          <a:solidFill>
            <a:srgbClr val="000000"/>
          </a:solidFill>
          <a:ln w="6350">
            <a:solidFill>
              <a:srgbClr val="5B8E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91840" y="3090672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8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3–8 units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65760" y="3621024"/>
            <a:ext cx="4114800" cy="566928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365760" y="3621024"/>
            <a:ext cx="50292" cy="56692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02920" y="3712464"/>
            <a:ext cx="365760" cy="365760"/>
          </a:xfrm>
          <a:prstGeom prst="rect">
            <a:avLst/>
          </a:prstGeom>
          <a:solidFill>
            <a:srgbClr val="000000"/>
          </a:solidFill>
          <a:ln w="12700">
            <a:solidFill>
              <a:srgbClr val="E08A3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2920" y="37124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8A3C"/>
                </a:solidFill>
              </a:rPr>
              <a:t>📞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960120" y="3694176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960120" y="393192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duration from Teams/Zoom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291840" y="3712464"/>
            <a:ext cx="1005840" cy="347472"/>
          </a:xfrm>
          <a:prstGeom prst="rect">
            <a:avLst/>
          </a:prstGeom>
          <a:solidFill>
            <a:srgbClr val="000000"/>
          </a:solidFill>
          <a:ln w="6350">
            <a:solidFill>
              <a:srgbClr val="E08A3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91840" y="371246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8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1–3 units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65760" y="4242816"/>
            <a:ext cx="4114800" cy="566928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365760" y="4242816"/>
            <a:ext cx="50292" cy="56692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02920" y="4334256"/>
            <a:ext cx="365760" cy="365760"/>
          </a:xfrm>
          <a:prstGeom prst="rect">
            <a:avLst/>
          </a:prstGeom>
          <a:solidFill>
            <a:srgbClr val="00000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2920" y="4334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A84C"/>
                </a:solidFill>
              </a:rPr>
              <a:t>🔍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960120" y="431596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960120" y="455371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tab activity monitored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3291840" y="4334256"/>
            <a:ext cx="1005840" cy="347472"/>
          </a:xfrm>
          <a:prstGeom prst="rect">
            <a:avLst/>
          </a:prstGeom>
          <a:solidFill>
            <a:srgbClr val="000000"/>
          </a:solidFill>
          <a:ln w="6350">
            <a:solidFill>
              <a:srgbClr val="C9A84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291840" y="4334256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3–6 units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709160" y="1234440"/>
            <a:ext cx="4114800" cy="3566160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892040" y="135331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Engine Works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4892040" y="1828800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Poll integrations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892040" y="2084832"/>
            <a:ext cx="3703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source (Outlook, Calendar, Word…) is polled on a randomised interval (8–15 sec in prototype; real-time via webhooks in production)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4892040" y="2578608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Classify activity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892040" y="2834640"/>
            <a:ext cx="3703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type determined by source + content. Matter matched via keyword rules &amp; title pattern extraction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4892040" y="332841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Calculate units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4892040" y="3584448"/>
            <a:ext cx="3703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 converted to 6-minute billing increments, rounded up per legal industry standard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4892040" y="407822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Generate narration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4892040" y="4334256"/>
            <a:ext cx="3703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Auto-written from activity metadata — attorney corrects if needed, not re-types from scratch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2 — Draft &amp; Approve Workflow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UX principle: attorney reviews, never re-types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3977640" cy="3566160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234440"/>
            <a:ext cx="397764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34440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BEFORE  (Ghost Practice Today)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169164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Attorney finishes a full day of work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205740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Ghost Practice → clicks "New Time Entry"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02920" y="242316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Tries to remember: what did I do? For which client?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2920" y="278892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narration from memory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15468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 up matter number manually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352044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Calculates time in 6-min units manually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2920" y="388620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Repeats for EVERY email, call, meeting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02920" y="425196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1-3 hours — at end of an already long day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0" y="1234440"/>
            <a:ext cx="4251960" cy="3566160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0" y="1234440"/>
            <a:ext cx="425196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4CAF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09160" y="123444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AFTER  (TimeLex)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736592" y="169164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TimeLex detects every email, meeting, call automatically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36592" y="205740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entry created instantly with narration + units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736592" y="242316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Attorney sees inbox of pending drafts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736592" y="278892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Assigns matter number (autocomplete list)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736592" y="315468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Clicks ✓ Approve — done in 1 click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736592" y="352044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adjusts narration if needed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736592" y="388620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"Approve All" for a full day in one click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736592" y="425196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 process: 5 minutes maximum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206240" y="28346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9A84C"/>
                </a:solidFill>
              </a:rPr>
              <a:t>→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3 — Live Dashboard &amp; Target Tracking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 by Lerato Motlhabi, Johan Biggs &amp; Anchané Botha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2057400" cy="1097280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29768" y="1325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Billable Hours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29768" y="1536192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 h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29768" y="19933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units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96312" y="1234440"/>
            <a:ext cx="2057400" cy="1097280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606040" y="1325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to Date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606040" y="1536192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50.6 h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606040" y="19933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150 h target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672584" y="1234440"/>
            <a:ext cx="2057400" cy="1097280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82312" y="1325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Review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782312" y="1536192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782312" y="19933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entries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848856" y="1234440"/>
            <a:ext cx="2057400" cy="1097280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958584" y="1325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Matters Active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958584" y="1536192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8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958584" y="19933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20040" y="2514600"/>
            <a:ext cx="8503920" cy="868680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02920" y="25786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Billing Target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138160" y="257860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33.7%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02920" y="2926080"/>
            <a:ext cx="8092440" cy="219456"/>
          </a:xfrm>
          <a:prstGeom prst="rect">
            <a:avLst/>
          </a:prstGeom>
          <a:solidFill>
            <a:srgbClr val="222836"/>
          </a:solidFill>
          <a:ln w="12700">
            <a:solidFill>
              <a:srgbClr val="22283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2926080"/>
            <a:ext cx="2727152" cy="21945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18211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50.6 h billed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486400" y="318211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h target  ·  99.4 h remaining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20040" y="3566160"/>
            <a:ext cx="4206240" cy="1371600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02920" y="36301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Activity Feed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11480" y="3950208"/>
            <a:ext cx="4005072" cy="420624"/>
          </a:xfrm>
          <a:prstGeom prst="rect">
            <a:avLst/>
          </a:prstGeom>
          <a:solidFill>
            <a:srgbClr val="181C25"/>
          </a:solidFill>
          <a:ln w="6350">
            <a:solidFill>
              <a:srgbClr val="22283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0352" y="4005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8EF0"/>
                </a:solidFill>
              </a:rPr>
              <a:t>✉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96112" y="3995928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Re: Discovery — Nkosi v Absa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96112" y="4169664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· 1 unit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703320" y="4059936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5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14:32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1480" y="4425696"/>
            <a:ext cx="4005072" cy="420624"/>
          </a:xfrm>
          <a:prstGeom prst="rect">
            <a:avLst/>
          </a:prstGeom>
          <a:solidFill>
            <a:srgbClr val="181C25"/>
          </a:solidFill>
          <a:ln w="6350">
            <a:solidFill>
              <a:srgbClr val="22283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30352" y="4480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8EF0"/>
                </a:solidFill>
              </a:rPr>
              <a:t>📄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896112" y="4471416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founding affidavit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96112" y="4645152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· 5 units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703320" y="4535424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5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13:15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3566160"/>
            <a:ext cx="4160520" cy="1371600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846320" y="363016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Entries  (pending review)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754880" y="3950208"/>
            <a:ext cx="3913632" cy="822960"/>
          </a:xfrm>
          <a:prstGeom prst="rect">
            <a:avLst/>
          </a:prstGeom>
          <a:solidFill>
            <a:srgbClr val="181C2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754880" y="3950208"/>
            <a:ext cx="50292" cy="8229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0" y="40050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 EMAIL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995160" y="400507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unit · 14:32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892040" y="4224528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Attending to email: Re: Discovery Documents — Nkosi v Absa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75120" y="4480560"/>
            <a:ext cx="822960" cy="228600"/>
          </a:xfrm>
          <a:prstGeom prst="rect">
            <a:avLst/>
          </a:prstGeom>
          <a:solidFill>
            <a:srgbClr val="000000"/>
          </a:solidFill>
          <a:ln w="6350">
            <a:solidFill>
              <a:srgbClr val="4CAF8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75120" y="448056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Approve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4 — Invoice Generator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 by Anchané Botha: generate pro-formas without the secretary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3291840" cy="3611880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3533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Settings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175564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A5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2920" y="1975104"/>
            <a:ext cx="2926080" cy="320040"/>
          </a:xfrm>
          <a:prstGeom prst="rect">
            <a:avLst/>
          </a:prstGeom>
          <a:solidFill>
            <a:srgbClr val="181C25"/>
          </a:solidFill>
          <a:ln w="12700">
            <a:solidFill>
              <a:srgbClr val="2228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197510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2024/0512-LIT — Nkosi v Absa Bank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241401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A5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TYPE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2633472"/>
            <a:ext cx="2926080" cy="320040"/>
          </a:xfrm>
          <a:prstGeom prst="rect">
            <a:avLst/>
          </a:prstGeom>
          <a:solidFill>
            <a:srgbClr val="181C25"/>
          </a:solidFill>
          <a:ln w="12700">
            <a:solidFill>
              <a:srgbClr val="22283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263347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Pro-Forma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307238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A5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RATE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02920" y="3291840"/>
            <a:ext cx="2926080" cy="320040"/>
          </a:xfrm>
          <a:prstGeom prst="rect">
            <a:avLst/>
          </a:prstGeom>
          <a:solidFill>
            <a:srgbClr val="181C25"/>
          </a:solidFill>
          <a:ln w="12700">
            <a:solidFill>
              <a:srgbClr val="22283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" y="32918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3 500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373075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A5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VAT RATE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02920" y="3950208"/>
            <a:ext cx="2926080" cy="320040"/>
          </a:xfrm>
          <a:prstGeom prst="rect">
            <a:avLst/>
          </a:prstGeom>
          <a:solidFill>
            <a:srgbClr val="181C25"/>
          </a:solidFill>
          <a:ln w="12700">
            <a:solidFill>
              <a:srgbClr val="22283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" y="39502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4407408"/>
            <a:ext cx="2926080" cy="34747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440740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0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Preview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94760" y="1234440"/>
            <a:ext cx="502920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E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931920" y="13533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0F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MOTSOENENG BILL ATTORNEYS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931920" y="162763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Houghton Estate, Johannesburg  ·  +27 11 463 9401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858000" y="135331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1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PRO-FORMA INVOICE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858000" y="15361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D0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#PF-2026-0422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886200" y="1874520"/>
            <a:ext cx="4800600" cy="0"/>
          </a:xfrm>
          <a:prstGeom prst="line">
            <a:avLst/>
          </a:prstGeom>
          <a:noFill/>
          <a:ln w="19050">
            <a:solidFill>
              <a:srgbClr val="0D0F1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931920" y="19385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 TO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931920" y="21214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0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Nkosi v Absa Bank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931920" y="234086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Matter: 2024/0512-LIT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886200" y="2606040"/>
            <a:ext cx="4800600" cy="256032"/>
          </a:xfrm>
          <a:prstGeom prst="rect">
            <a:avLst/>
          </a:prstGeom>
          <a:solidFill>
            <a:srgbClr val="0D0F14"/>
          </a:solidFill>
          <a:ln w="12700">
            <a:solidFill>
              <a:srgbClr val="0D0F1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931920" y="260604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492240" y="26060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903720" y="260604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Hrs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452360" y="26060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 (R)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3886200" y="2898648"/>
            <a:ext cx="4800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931920" y="28986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Attending to email: RE: Settlement — Nkosi v Absa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6492240" y="289864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903720" y="289864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452360" y="289864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350.00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3886200" y="3154680"/>
            <a:ext cx="4800600" cy="256032"/>
          </a:xfrm>
          <a:prstGeom prst="rect">
            <a:avLst/>
          </a:prstGeom>
          <a:solidFill>
            <a:srgbClr val="F4F6F9"/>
          </a:solidFill>
          <a:ln w="6350">
            <a:solidFill>
              <a:srgbClr val="EEEEE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31920" y="315468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founding affidavit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492240" y="315468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903720" y="315468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7452360" y="315468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2 100.00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3886200" y="3410712"/>
            <a:ext cx="4800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31920" y="341071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with opposing counsel re: postponement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6492240" y="341071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6903720" y="341071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7452360" y="341071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700.00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3886200" y="3657600"/>
            <a:ext cx="4800600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66560" y="370332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Subtotal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589520" y="370332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3 150.00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766560" y="39593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VAT (15%)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589520" y="395935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472.50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6766560" y="421538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0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DUE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7589520" y="421538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D0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3 622.50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3886200" y="4681728"/>
            <a:ext cx="4800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TimeLex  ·  Entries verified and approved by fee earner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 3 — Technical Architecture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ES6+ frontend · Ghost Practice API integration · POPIA-compliant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6217920" cy="822960"/>
          </a:xfrm>
          <a:prstGeom prst="rect">
            <a:avLst/>
          </a:prstGeom>
          <a:solidFill>
            <a:srgbClr val="13161D"/>
          </a:solidFill>
          <a:ln w="12700">
            <a:solidFill>
              <a:srgbClr val="5B8E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234440"/>
            <a:ext cx="50292" cy="822960"/>
          </a:xfrm>
          <a:prstGeom prst="rect">
            <a:avLst/>
          </a:prstGeom>
          <a:solidFill>
            <a:srgbClr val="5B8EF0"/>
          </a:solidFill>
          <a:ln w="12700">
            <a:solidFill>
              <a:srgbClr val="5B8E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289304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B8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ATTORNEY'S TOOLS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554480"/>
            <a:ext cx="1078992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554480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719072" y="1554480"/>
            <a:ext cx="1078992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719072" y="1554480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Calendar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889504" y="1554480"/>
            <a:ext cx="1078992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89504" y="1554480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/ Docs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059936" y="1554480"/>
            <a:ext cx="1078992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59936" y="1554480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/ Zoom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230368" y="1554480"/>
            <a:ext cx="1078992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30368" y="1554480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429000" y="2057400"/>
            <a:ext cx="0" cy="155448"/>
          </a:xfrm>
          <a:prstGeom prst="line">
            <a:avLst/>
          </a:prstGeom>
          <a:noFill/>
          <a:ln w="19050">
            <a:solidFill>
              <a:srgbClr val="5B8E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2194560"/>
            <a:ext cx="6217920" cy="822960"/>
          </a:xfrm>
          <a:prstGeom prst="rect">
            <a:avLst/>
          </a:prstGeom>
          <a:solidFill>
            <a:srgbClr val="13161D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" y="2194560"/>
            <a:ext cx="50292" cy="8229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2249424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TIMELEX CAPTURE ENGINE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2514600"/>
            <a:ext cx="1078992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2514600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classifier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1719072" y="2514600"/>
            <a:ext cx="1078992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719072" y="2514600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 matcher (regex + AI)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889504" y="2514600"/>
            <a:ext cx="1078992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889504" y="2514600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calculator (÷6 min)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059936" y="2514600"/>
            <a:ext cx="1078992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59936" y="2514600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Narration generator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230368" y="2514600"/>
            <a:ext cx="1078992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230368" y="2514600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creator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429000" y="3017520"/>
            <a:ext cx="0" cy="155448"/>
          </a:xfrm>
          <a:prstGeom prst="line">
            <a:avLst/>
          </a:prstGeom>
          <a:noFill/>
          <a:ln w="19050">
            <a:solidFill>
              <a:srgbClr val="C9A84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0040" y="3154680"/>
            <a:ext cx="6217920" cy="822960"/>
          </a:xfrm>
          <a:prstGeom prst="rect">
            <a:avLst/>
          </a:prstGeom>
          <a:solidFill>
            <a:srgbClr val="13161D"/>
          </a:solidFill>
          <a:ln w="12700">
            <a:solidFill>
              <a:srgbClr val="E08A3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0040" y="3154680"/>
            <a:ext cx="50292" cy="822960"/>
          </a:xfrm>
          <a:prstGeom prst="rect">
            <a:avLst/>
          </a:prstGeom>
          <a:solidFill>
            <a:srgbClr val="E08A3C"/>
          </a:solidFill>
          <a:ln w="12700">
            <a:solidFill>
              <a:srgbClr val="E08A3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2920" y="3209544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E08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TIMELEX DASHBOARD (UI)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8640" y="3474720"/>
            <a:ext cx="1078992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3474720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1719072" y="3474720"/>
            <a:ext cx="1078992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719072" y="3474720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Capture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2889504" y="3474720"/>
            <a:ext cx="1078992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889504" y="3474720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Entries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059936" y="3474720"/>
            <a:ext cx="1078992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059936" y="3474720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Generator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3429000" y="3977640"/>
            <a:ext cx="0" cy="155448"/>
          </a:xfrm>
          <a:prstGeom prst="line">
            <a:avLst/>
          </a:prstGeom>
          <a:noFill/>
          <a:ln w="19050">
            <a:solidFill>
              <a:srgbClr val="E08A3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20040" y="4114800"/>
            <a:ext cx="6217920" cy="822960"/>
          </a:xfrm>
          <a:prstGeom prst="rect">
            <a:avLst/>
          </a:prstGeom>
          <a:solidFill>
            <a:srgbClr val="13161D"/>
          </a:solidFill>
          <a:ln w="12700">
            <a:solidFill>
              <a:srgbClr val="4CAF8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20040" y="4114800"/>
            <a:ext cx="50292" cy="822960"/>
          </a:xfrm>
          <a:prstGeom prst="rect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02920" y="4169664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/ INTEGRATION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8640" y="4434840"/>
            <a:ext cx="1078992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48640" y="4434840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Ghost Practice API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1719072" y="4434840"/>
            <a:ext cx="1078992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719072" y="4434840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export (fallback)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2889504" y="4434840"/>
            <a:ext cx="1078992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889504" y="4434840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Pro-forma / Tax invoices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6748272" y="1234440"/>
            <a:ext cx="2075688" cy="3703320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6903720" y="135331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 Stack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6903720" y="17190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903720" y="192024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· CSS · ES6+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6903720" y="22219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6903720" y="242316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Modules (import)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6903720" y="272491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Styling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6903720" y="292608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variables, 5-file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6903720" y="32278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 API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6903720" y="342900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/ OAuth2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6903720" y="37307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Graph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6903720" y="393192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 webhooks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6903720" y="42336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 ready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6903720" y="443484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Node.js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Code Architecture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by design — each file has a single clear responsibility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4251960" cy="886968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234440"/>
            <a:ext cx="50292" cy="88696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3075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app.js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74720" y="1325880"/>
            <a:ext cx="914400" cy="2011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132588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~400 lines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84632" y="1563624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state, navigation, init, public API (window.App). All views wired here.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0040" y="2185416"/>
            <a:ext cx="4251960" cy="886968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185416"/>
            <a:ext cx="50292" cy="886968"/>
          </a:xfrm>
          <a:prstGeom prst="rect">
            <a:avLst/>
          </a:prstGeom>
          <a:solidFill>
            <a:srgbClr val="5B8EF0"/>
          </a:solidFill>
          <a:ln w="12700">
            <a:solidFill>
              <a:srgbClr val="5B8E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225856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capture-engine.js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474720" y="2276856"/>
            <a:ext cx="914400" cy="2011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227685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8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~500 lines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84632" y="2514600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CaptureEngine class + 7 integration sub-classes (Outlook, Calendar, Word, Docs, Teams, Zoom, Browser). ActivityType / CaptureStatus enums.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3136392"/>
            <a:ext cx="4251960" cy="886968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136392"/>
            <a:ext cx="50292" cy="886968"/>
          </a:xfrm>
          <a:prstGeom prst="rect">
            <a:avLst/>
          </a:prstGeom>
          <a:solidFill>
            <a:srgbClr val="E08A3C"/>
          </a:solidFill>
          <a:ln w="12700">
            <a:solidFill>
              <a:srgbClr val="E08A3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320954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invoice-generator.js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474720" y="3227832"/>
            <a:ext cx="914400" cy="2011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74720" y="32278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8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~300 lines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84632" y="3465576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InvoiceGenerator class. Generates preview, renders DOM invoice, pushes to Ghost Practice. InvoiceType enum.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20040" y="4087368"/>
            <a:ext cx="4251960" cy="886968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4087368"/>
            <a:ext cx="50292" cy="886968"/>
          </a:xfrm>
          <a:prstGeom prst="rect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" y="41605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gp-integration.js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474720" y="4178808"/>
            <a:ext cx="914400" cy="2011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74720" y="41788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~280 lines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84632" y="4416552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GhostPracticeIntegration class. Simulates OAuth2 auth, pushTimeEntries(), syncMatters(), generateInvoice().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82312" y="1234440"/>
            <a:ext cx="4251960" cy="886968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82312" y="1234440"/>
            <a:ext cx="50292" cy="886968"/>
          </a:xfrm>
          <a:prstGeom prst="rect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46904" y="13075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utils/date-helpers.js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936992" y="1325880"/>
            <a:ext cx="914400" cy="2011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936992" y="132588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~150 lines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946904" y="1563624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toBillingUnits(), formatDuration(), getBillingPeriodStart(), business day helpers.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782312" y="2185416"/>
            <a:ext cx="4251960" cy="886968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782312" y="2185416"/>
            <a:ext cx="50292" cy="886968"/>
          </a:xfrm>
          <a:prstGeom prst="rect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46904" y="225856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utils/matter-lookup.js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936992" y="2276856"/>
            <a:ext cx="914400" cy="2011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936992" y="227685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~200 lines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946904" y="2514600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isValidMatterNumber(), searchMatters(), getMatterSuggestions(), createMatter(), sortMattersByRecency().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782312" y="3136392"/>
            <a:ext cx="4251960" cy="886968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782312" y="3136392"/>
            <a:ext cx="50292" cy="886968"/>
          </a:xfrm>
          <a:prstGeom prst="rect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46904" y="320954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utils/toast-notification.js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936992" y="3227832"/>
            <a:ext cx="914400" cy="2011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936992" y="32278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~150 lines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4946904" y="3465576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showToast(), showSuccess/Error/Warning/Info(). Full toast container system with animations.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782312" y="4087368"/>
            <a:ext cx="4251960" cy="886968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782312" y="4087368"/>
            <a:ext cx="50292" cy="886968"/>
          </a:xfrm>
          <a:prstGeom prst="rect">
            <a:avLst/>
          </a:prstGeom>
          <a:solidFill>
            <a:srgbClr val="4A5168"/>
          </a:solidFill>
          <a:ln w="12700">
            <a:solidFill>
              <a:srgbClr val="4A516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946904" y="41605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styles/ (5 CSS files)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936992" y="4178808"/>
            <a:ext cx="914400" cy="2011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936992" y="41788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5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~600 lines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4946904" y="4416552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main.css · dashboard.css · capture.css · entries.css · invoice.css. CSS custom property theming throughout.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Ghost Practice Integration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gp-integration.js  ·  Simulated OAuth2 + REST API flow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1536192" cy="1005840"/>
          </a:xfrm>
          <a:prstGeom prst="rect">
            <a:avLst/>
          </a:prstGeom>
          <a:solidFill>
            <a:srgbClr val="13161D"/>
          </a:solidFill>
          <a:ln w="19050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234440"/>
            <a:ext cx="1536192" cy="10972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8912" y="1389888"/>
            <a:ext cx="13898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Attorney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 Draft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901952" y="1737360"/>
            <a:ext cx="182880" cy="0"/>
          </a:xfrm>
          <a:prstGeom prst="line">
            <a:avLst/>
          </a:prstGeom>
          <a:noFill/>
          <a:ln w="19050">
            <a:solidFill>
              <a:srgbClr val="C9A84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84832" y="1234440"/>
            <a:ext cx="1536192" cy="1005840"/>
          </a:xfrm>
          <a:prstGeom prst="rect">
            <a:avLst/>
          </a:prstGeom>
          <a:solidFill>
            <a:srgbClr val="13161D"/>
          </a:solidFill>
          <a:ln w="19050">
            <a:solidFill>
              <a:srgbClr val="E08A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084832" y="1234440"/>
            <a:ext cx="1536192" cy="109728"/>
          </a:xfrm>
          <a:prstGeom prst="rect">
            <a:avLst/>
          </a:prstGeom>
          <a:solidFill>
            <a:srgbClr val="E08A3C"/>
          </a:solidFill>
          <a:ln w="12700">
            <a:solidFill>
              <a:srgbClr val="E08A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57984" y="1389888"/>
            <a:ext cx="13898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createGPTimeEntry()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conversion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621024" y="1737360"/>
            <a:ext cx="182880" cy="0"/>
          </a:xfrm>
          <a:prstGeom prst="line">
            <a:avLst/>
          </a:prstGeom>
          <a:noFill/>
          <a:ln w="19050">
            <a:solidFill>
              <a:srgbClr val="C9A84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03904" y="1234440"/>
            <a:ext cx="1536192" cy="1005840"/>
          </a:xfrm>
          <a:prstGeom prst="rect">
            <a:avLst/>
          </a:prstGeom>
          <a:solidFill>
            <a:srgbClr val="13161D"/>
          </a:solidFill>
          <a:ln w="19050">
            <a:solidFill>
              <a:srgbClr val="5B8E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803904" y="1234440"/>
            <a:ext cx="1536192" cy="109728"/>
          </a:xfrm>
          <a:prstGeom prst="rect">
            <a:avLst/>
          </a:prstGeom>
          <a:solidFill>
            <a:srgbClr val="5B8EF0"/>
          </a:solidFill>
          <a:ln w="12700">
            <a:solidFill>
              <a:srgbClr val="5B8E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77056" y="1389888"/>
            <a:ext cx="13898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 Auth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 token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40096" y="1737360"/>
            <a:ext cx="182880" cy="0"/>
          </a:xfrm>
          <a:prstGeom prst="line">
            <a:avLst/>
          </a:prstGeom>
          <a:noFill/>
          <a:ln w="19050">
            <a:solidFill>
              <a:srgbClr val="C9A84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522976" y="1234440"/>
            <a:ext cx="1536192" cy="1005840"/>
          </a:xfrm>
          <a:prstGeom prst="rect">
            <a:avLst/>
          </a:prstGeom>
          <a:solidFill>
            <a:srgbClr val="13161D"/>
          </a:solidFill>
          <a:ln w="19050">
            <a:solidFill>
              <a:srgbClr val="4CAF8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522976" y="1234440"/>
            <a:ext cx="1536192" cy="109728"/>
          </a:xfrm>
          <a:prstGeom prst="rect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96128" y="1389888"/>
            <a:ext cx="13898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pushTimeEntries()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POST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059168" y="1737360"/>
            <a:ext cx="182880" cy="0"/>
          </a:xfrm>
          <a:prstGeom prst="line">
            <a:avLst/>
          </a:prstGeom>
          <a:noFill/>
          <a:ln w="19050">
            <a:solidFill>
              <a:srgbClr val="C9A84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242048" y="1234440"/>
            <a:ext cx="1536192" cy="1005840"/>
          </a:xfrm>
          <a:prstGeom prst="rect">
            <a:avLst/>
          </a:prstGeom>
          <a:solidFill>
            <a:srgbClr val="13161D"/>
          </a:solidFill>
          <a:ln w="19050">
            <a:solidFill>
              <a:srgbClr val="4CAF8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242048" y="1234440"/>
            <a:ext cx="1536192" cy="109728"/>
          </a:xfrm>
          <a:prstGeom prst="rect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0" y="1389888"/>
            <a:ext cx="13898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Ghost Practice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65760" y="24231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Methods in GhostPracticeIntegration Class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65760" y="2788920"/>
            <a:ext cx="4251960" cy="713232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" y="2880360"/>
            <a:ext cx="2286000" cy="228600"/>
          </a:xfrm>
          <a:prstGeom prst="rect">
            <a:avLst/>
          </a:prstGeom>
          <a:solidFill>
            <a:srgbClr val="181C25"/>
          </a:solidFill>
          <a:ln w="6350">
            <a:solidFill>
              <a:srgbClr val="22283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1208" y="28803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authenticate()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21208" y="31546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Simulates OAuth2 flow. Stores access + refresh tokens. In production: real GP OAuth endpoint.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65760" y="3557016"/>
            <a:ext cx="4251960" cy="713232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5488" y="3648456"/>
            <a:ext cx="2286000" cy="228600"/>
          </a:xfrm>
          <a:prstGeom prst="rect">
            <a:avLst/>
          </a:prstGeom>
          <a:solidFill>
            <a:srgbClr val="181C25"/>
          </a:solidFill>
          <a:ln w="6350">
            <a:solidFill>
              <a:srgbClr val="22283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21208" y="364845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pushTimeEntry(entry)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21208" y="392277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TimeLex entry to GP format. POSTs to /time-entries. Returns success/failure.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65760" y="4325112"/>
            <a:ext cx="4251960" cy="713232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75488" y="4416552"/>
            <a:ext cx="2286000" cy="228600"/>
          </a:xfrm>
          <a:prstGeom prst="rect">
            <a:avLst/>
          </a:prstGeom>
          <a:solidFill>
            <a:srgbClr val="181C25"/>
          </a:solidFill>
          <a:ln w="6350">
            <a:solidFill>
              <a:srgbClr val="22283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1208" y="44165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pushTimeEntries([])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21208" y="469087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push with rate-limit delays between entries. Shows success/fail summary toast.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28032" y="2788920"/>
            <a:ext cx="4251960" cy="713232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937760" y="2880360"/>
            <a:ext cx="2286000" cy="228600"/>
          </a:xfrm>
          <a:prstGeom prst="rect">
            <a:avLst/>
          </a:prstGeom>
          <a:solidFill>
            <a:srgbClr val="181C25"/>
          </a:solidFill>
          <a:ln w="6350">
            <a:solidFill>
              <a:srgbClr val="22283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83480" y="28803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syncMatters()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983480" y="31546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Fetches all active matters from GP. Populates matter autocomplete dropdown.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828032" y="3557016"/>
            <a:ext cx="4251960" cy="713232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937760" y="3648456"/>
            <a:ext cx="2286000" cy="228600"/>
          </a:xfrm>
          <a:prstGeom prst="rect">
            <a:avLst/>
          </a:prstGeom>
          <a:solidFill>
            <a:srgbClr val="181C25"/>
          </a:solidFill>
          <a:ln w="6350">
            <a:solidFill>
              <a:srgbClr val="22283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83480" y="364845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generateInvoice()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983480" y="392277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pro-forma or final invoice in GP. Returns invoice number.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828032" y="4325112"/>
            <a:ext cx="4251960" cy="713232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937760" y="4416552"/>
            <a:ext cx="2286000" cy="228600"/>
          </a:xfrm>
          <a:prstGeom prst="rect">
            <a:avLst/>
          </a:prstGeom>
          <a:solidFill>
            <a:srgbClr val="181C25"/>
          </a:solidFill>
          <a:ln w="6350">
            <a:solidFill>
              <a:srgbClr val="22283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83480" y="44165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createGPTimeEntries()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983480" y="469087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function — transforms TimeLex entry array to GP-ready format (YYYY-MM-DD, units, narration).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 5 — Risk &amp; Compliance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POPIA · Attorney-Client Privilege · Ethics · Adoption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4251960" cy="1170432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234440"/>
            <a:ext cx="50292" cy="1170432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566160" y="1325880"/>
            <a:ext cx="822960" cy="228600"/>
          </a:xfrm>
          <a:prstGeom prst="rect">
            <a:avLst/>
          </a:prstGeom>
          <a:solidFill>
            <a:srgbClr val="000000"/>
          </a:solidFill>
          <a:ln w="6350">
            <a:solidFill>
              <a:srgbClr val="E05C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3258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" y="130759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Attorney-Client Privilege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158191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activity metadata captured — no email content stored. Entries stored locally, never third-party cloud.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02920" y="194767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Zero content logging policy + on-premise deployment option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0040" y="2468880"/>
            <a:ext cx="4251960" cy="1170432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" y="2468880"/>
            <a:ext cx="50292" cy="1170432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66160" y="2560320"/>
            <a:ext cx="822960" cy="228600"/>
          </a:xfrm>
          <a:prstGeom prst="rect">
            <a:avLst/>
          </a:prstGeom>
          <a:solidFill>
            <a:srgbClr val="000000"/>
          </a:solidFill>
          <a:ln w="6350">
            <a:solidFill>
              <a:srgbClr val="E05C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66160" y="2560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2920" y="254203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POPIA Compliance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281635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personal data (matters, clients, billing) stays within firm infrastructure. No third-party analytics.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02920" y="318211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Firm-hosted deployment + data residency in South Africa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20040" y="3703320"/>
            <a:ext cx="4251960" cy="1170432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" y="3703320"/>
            <a:ext cx="50292" cy="1170432"/>
          </a:xfrm>
          <a:prstGeom prst="rect">
            <a:avLst/>
          </a:prstGeom>
          <a:solidFill>
            <a:srgbClr val="E08A3C"/>
          </a:solidFill>
          <a:ln w="12700">
            <a:solidFill>
              <a:srgbClr val="E08A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66160" y="3794760"/>
            <a:ext cx="822960" cy="228600"/>
          </a:xfrm>
          <a:prstGeom prst="rect">
            <a:avLst/>
          </a:prstGeom>
          <a:solidFill>
            <a:srgbClr val="000000"/>
          </a:solidFill>
          <a:ln w="6350">
            <a:solidFill>
              <a:srgbClr val="E08A3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66160" y="379476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8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377647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Overbilling Risk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2920" y="405079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Auto-capture could log non-billable activities as billable if not reviewed.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02920" y="441655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8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Attorney approval required before any entry is billed — no blind auto-posting ever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782312" y="1234440"/>
            <a:ext cx="4251960" cy="1170432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82312" y="1234440"/>
            <a:ext cx="50292" cy="1170432"/>
          </a:xfrm>
          <a:prstGeom prst="rect">
            <a:avLst/>
          </a:prstGeom>
          <a:solidFill>
            <a:srgbClr val="E08A3C"/>
          </a:solidFill>
          <a:ln w="12700">
            <a:solidFill>
              <a:srgbClr val="E08A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28432" y="1325880"/>
            <a:ext cx="822960" cy="228600"/>
          </a:xfrm>
          <a:prstGeom prst="rect">
            <a:avLst/>
          </a:prstGeom>
          <a:solidFill>
            <a:srgbClr val="000000"/>
          </a:solidFill>
          <a:ln w="6350">
            <a:solidFill>
              <a:srgbClr val="E08A3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028432" y="13258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8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965192" y="130759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Ghost Practice API Availability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65192" y="158191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 API may be unavailable or restricted during outages.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965192" y="194767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8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CSV export fallback — entries always exportable regardless of GP connection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782312" y="2468880"/>
            <a:ext cx="4251960" cy="1170432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782312" y="2468880"/>
            <a:ext cx="50292" cy="117043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28432" y="2560320"/>
            <a:ext cx="822960" cy="228600"/>
          </a:xfrm>
          <a:prstGeom prst="rect">
            <a:avLst/>
          </a:prstGeom>
          <a:solidFill>
            <a:srgbClr val="000000"/>
          </a:solidFill>
          <a:ln w="6350">
            <a:solidFill>
              <a:srgbClr val="C9A84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028432" y="2560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965192" y="254203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Resistance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965192" y="281635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Attorneys may resist changing established (if inefficient) habits.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965192" y="318211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Minimal behaviour change — review instead of re-type. No new login or tool to learn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782312" y="3703320"/>
            <a:ext cx="4251960" cy="1170432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782312" y="3703320"/>
            <a:ext cx="50292" cy="117043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028432" y="3794760"/>
            <a:ext cx="822960" cy="228600"/>
          </a:xfrm>
          <a:prstGeom prst="rect">
            <a:avLst/>
          </a:prstGeom>
          <a:solidFill>
            <a:srgbClr val="000000"/>
          </a:solidFill>
          <a:ln w="6350">
            <a:solidFill>
              <a:srgbClr val="C9A84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028432" y="379476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965192" y="377647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Inaccurate Matter Matching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965192" y="405079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keyword matching may assign wrong matter to an activity.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4965192" y="441655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Matter is always editable before approval. Attorney is final decision-maker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3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ROI &amp; Business Case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 that justify building TimeLex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20116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E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32588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0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R406k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57200" y="18928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Ghost Practice 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1762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R33 925 × 12 months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14600" y="1234440"/>
            <a:ext cx="20116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E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606040" y="132588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08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 days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606040" y="18928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per attorney per month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606040" y="21762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manual fee capture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663440" y="1234440"/>
            <a:ext cx="20116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E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32588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754880" y="18928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time saved per attorney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54880" y="21762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hours of reconstruction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812280" y="1234440"/>
            <a:ext cx="20116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E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903720" y="132588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~20%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903720" y="18928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billing uplift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903720" y="21762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capturing missed time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65760" y="2697480"/>
            <a:ext cx="47548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E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48640" y="281635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3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TimeLex Pays For Itself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94360" y="3218688"/>
            <a:ext cx="4297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05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attorney who misses 30 min/day = ~R8 750/month in unbilled work (at R350/hour)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94360" y="3538728"/>
            <a:ext cx="4297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05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10+ attorneys, the firm loses R87 500+ monthly from reconstruction gaps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94360" y="3858768"/>
            <a:ext cx="4297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05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TimeLex captures that time automatically — ROI is immediate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94360" y="4178808"/>
            <a:ext cx="4297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05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per-seat licensing — one web app serves the entire firm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94360" y="4498848"/>
            <a:ext cx="4297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05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Ghost Practice remains — TimeLex is an enhancement layer, not a replacement</a:t>
            </a:r>
            <a:endParaRPr lang="en-US" sz="1050" dirty="0"/>
          </a:p>
        </p:txBody>
      </p:sp>
      <p:graphicFrame>
        <p:nvGraphicFramePr>
          <p:cNvPr id="28" name="Chart 0" descr=""/>
          <p:cNvGraphicFramePr/>
          <p:nvPr/>
        </p:nvGraphicFramePr>
        <p:xfrm>
          <a:off x="5257800" y="2697480"/>
          <a:ext cx="356616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Walkthrough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show — in sequence — for maximum impact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261872"/>
            <a:ext cx="4251960" cy="877824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29768" y="1444752"/>
            <a:ext cx="457200" cy="457200"/>
          </a:xfrm>
          <a:prstGeom prst="rect">
            <a:avLst/>
          </a:prstGeom>
          <a:solidFill>
            <a:srgbClr val="000000"/>
          </a:solidFill>
          <a:ln w="12700">
            <a:solidFill>
              <a:srgbClr val="4CAF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1444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886200" y="1353312"/>
            <a:ext cx="566928" cy="228600"/>
          </a:xfrm>
          <a:prstGeom prst="rect">
            <a:avLst/>
          </a:prstGeom>
          <a:solidFill>
            <a:srgbClr val="0D0F14"/>
          </a:solidFill>
          <a:ln w="6350">
            <a:solidFill>
              <a:srgbClr val="2228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86200" y="1353312"/>
            <a:ext cx="566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05840" y="133502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app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05840" y="1609344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index.html via Live Server. Show dark dashboard with pre-seeded entries already populating the stats.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0040" y="2203704"/>
            <a:ext cx="4251960" cy="877824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29768" y="2386584"/>
            <a:ext cx="457200" cy="457200"/>
          </a:xfrm>
          <a:prstGeom prst="rect">
            <a:avLst/>
          </a:prstGeom>
          <a:solidFill>
            <a:srgbClr val="000000"/>
          </a:solidFill>
          <a:ln w="12700">
            <a:solidFill>
              <a:srgbClr val="4CAF8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" y="2386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886200" y="2295144"/>
            <a:ext cx="566928" cy="228600"/>
          </a:xfrm>
          <a:prstGeom prst="rect">
            <a:avLst/>
          </a:prstGeom>
          <a:solidFill>
            <a:srgbClr val="0D0F14"/>
          </a:solidFill>
          <a:ln w="6350">
            <a:solidFill>
              <a:srgbClr val="22283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200" y="2295144"/>
            <a:ext cx="566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05840" y="227685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activity feed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05840" y="2551176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to the feed — new activity appears every ~10 seconds automatically. Show email detected → draft created in real time.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20040" y="3145536"/>
            <a:ext cx="4251960" cy="877824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29768" y="3328416"/>
            <a:ext cx="457200" cy="457200"/>
          </a:xfrm>
          <a:prstGeom prst="rect">
            <a:avLst/>
          </a:prstGeom>
          <a:solidFill>
            <a:srgbClr val="000000"/>
          </a:solidFill>
          <a:ln w="12700">
            <a:solidFill>
              <a:srgbClr val="4CAF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9768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886200" y="3236976"/>
            <a:ext cx="566928" cy="228600"/>
          </a:xfrm>
          <a:prstGeom prst="rect">
            <a:avLst/>
          </a:prstGeom>
          <a:solidFill>
            <a:srgbClr val="0D0F14"/>
          </a:solidFill>
          <a:ln w="6350">
            <a:solidFill>
              <a:srgbClr val="22283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86200" y="3236976"/>
            <a:ext cx="566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05840" y="32186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a draft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05840" y="349300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Draft Entries panel. Type a matter number into the input (autocomplete fires). Click ✓ Approve. Stats update live.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0040" y="4087368"/>
            <a:ext cx="4251960" cy="877824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29768" y="4270248"/>
            <a:ext cx="457200" cy="457200"/>
          </a:xfrm>
          <a:prstGeom prst="rect">
            <a:avLst/>
          </a:prstGeom>
          <a:solidFill>
            <a:srgbClr val="000000"/>
          </a:solidFill>
          <a:ln w="12700">
            <a:solidFill>
              <a:srgbClr val="4CAF8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9768" y="4270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886200" y="4178808"/>
            <a:ext cx="566928" cy="228600"/>
          </a:xfrm>
          <a:prstGeom prst="rect">
            <a:avLst/>
          </a:prstGeom>
          <a:solidFill>
            <a:srgbClr val="0D0F14"/>
          </a:solidFill>
          <a:ln w="6350">
            <a:solidFill>
              <a:srgbClr val="22283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886200" y="4178808"/>
            <a:ext cx="566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05840" y="41605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All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05840" y="443484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Accumulate 3-4 drafts. Click Approve All. Show the entries table filling up instantly. This is the one-click vs hours point.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782312" y="1261872"/>
            <a:ext cx="4251960" cy="877824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892040" y="1444752"/>
            <a:ext cx="457200" cy="457200"/>
          </a:xfrm>
          <a:prstGeom prst="rect">
            <a:avLst/>
          </a:prstGeom>
          <a:solidFill>
            <a:srgbClr val="000000"/>
          </a:solidFill>
          <a:ln w="12700">
            <a:solidFill>
              <a:srgbClr val="4CAF8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92040" y="1444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348472" y="1353312"/>
            <a:ext cx="566928" cy="228600"/>
          </a:xfrm>
          <a:prstGeom prst="rect">
            <a:avLst/>
          </a:prstGeom>
          <a:solidFill>
            <a:srgbClr val="0D0F14"/>
          </a:solidFill>
          <a:ln w="6350">
            <a:solidFill>
              <a:srgbClr val="22283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348472" y="1353312"/>
            <a:ext cx="566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468112" y="133502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Entries view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468112" y="1609344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Time Entries nav. Show the table with auto/manual tags. Filter by matter number. Show summary line — units + hours.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782312" y="2203704"/>
            <a:ext cx="4251960" cy="877824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892040" y="2386584"/>
            <a:ext cx="457200" cy="457200"/>
          </a:xfrm>
          <a:prstGeom prst="rect">
            <a:avLst/>
          </a:prstGeom>
          <a:solidFill>
            <a:srgbClr val="000000"/>
          </a:solidFill>
          <a:ln w="12700">
            <a:solidFill>
              <a:srgbClr val="4CAF8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92040" y="2386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348472" y="2295144"/>
            <a:ext cx="566928" cy="228600"/>
          </a:xfrm>
          <a:prstGeom prst="rect">
            <a:avLst/>
          </a:prstGeom>
          <a:solidFill>
            <a:srgbClr val="0D0F14"/>
          </a:solidFill>
          <a:ln w="6350">
            <a:solidFill>
              <a:srgbClr val="22283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348472" y="2295144"/>
            <a:ext cx="566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468112" y="227685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entry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468112" y="2551176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Live Capture. Add a manual entry (Court Attendance). Show it appearing in entries table immediately.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782312" y="3145536"/>
            <a:ext cx="4251960" cy="877824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892040" y="3328416"/>
            <a:ext cx="457200" cy="457200"/>
          </a:xfrm>
          <a:prstGeom prst="rect">
            <a:avLst/>
          </a:prstGeom>
          <a:solidFill>
            <a:srgbClr val="000000"/>
          </a:solidFill>
          <a:ln w="12700">
            <a:solidFill>
              <a:srgbClr val="4CAF8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9204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8348472" y="3236976"/>
            <a:ext cx="566928" cy="228600"/>
          </a:xfrm>
          <a:prstGeom prst="rect">
            <a:avLst/>
          </a:prstGeom>
          <a:solidFill>
            <a:srgbClr val="0D0F14"/>
          </a:solidFill>
          <a:ln w="6350">
            <a:solidFill>
              <a:srgbClr val="22283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348472" y="3236976"/>
            <a:ext cx="566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60s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468112" y="32186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Generator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468112" y="349300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Invoice nav. Select a matter, set rate to R3 500, click Generate Preview. Show formatted invoice with VAT calculation.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4782312" y="4087368"/>
            <a:ext cx="4251960" cy="877824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4892040" y="4270248"/>
            <a:ext cx="457200" cy="457200"/>
          </a:xfrm>
          <a:prstGeom prst="rect">
            <a:avLst/>
          </a:prstGeom>
          <a:solidFill>
            <a:srgbClr val="000000"/>
          </a:solidFill>
          <a:ln w="12700">
            <a:solidFill>
              <a:srgbClr val="4CAF82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892040" y="4270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8348472" y="4178808"/>
            <a:ext cx="566928" cy="228600"/>
          </a:xfrm>
          <a:prstGeom prst="rect">
            <a:avLst/>
          </a:prstGeom>
          <a:solidFill>
            <a:srgbClr val="0D0F14"/>
          </a:solidFill>
          <a:ln w="6350">
            <a:solidFill>
              <a:srgbClr val="22283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348472" y="4178808"/>
            <a:ext cx="566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30s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468112" y="41605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to Ghost Practice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468112" y="443484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Push to Ghost Practice button. Show the success toast. Explain this is where the GP API call would go in production.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320040" y="4956048"/>
            <a:ext cx="8503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A5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demo time: ~7 minutes  ·  Emphasise: review not retype, auto-detect, GP-ready output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3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 Roadmap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prototype to production — what comes after assessment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261872"/>
            <a:ext cx="274320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E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261872"/>
            <a:ext cx="2743200" cy="530352"/>
          </a:xfrm>
          <a:prstGeom prst="rect">
            <a:avLst/>
          </a:prstGeom>
          <a:solidFill>
            <a:srgbClr val="5B8EF0"/>
          </a:solidFill>
          <a:ln w="12700">
            <a:solidFill>
              <a:srgbClr val="5B8E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2801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151790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874520" y="133502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1-2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1920240"/>
            <a:ext cx="2468880" cy="548640"/>
          </a:xfrm>
          <a:prstGeom prst="rect">
            <a:avLst/>
          </a:prstGeom>
          <a:solidFill>
            <a:srgbClr val="F4F6F9"/>
          </a:solidFill>
          <a:ln w="6350">
            <a:solidFill>
              <a:srgbClr val="D0D5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1920240"/>
            <a:ext cx="36576" cy="548640"/>
          </a:xfrm>
          <a:prstGeom prst="rect">
            <a:avLst/>
          </a:prstGeom>
          <a:solidFill>
            <a:srgbClr val="5B8EF0"/>
          </a:solidFill>
          <a:ln w="12700">
            <a:solidFill>
              <a:srgbClr val="5B8E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Microsoft Graph API (Outlook, Calendar, Teams)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578608"/>
            <a:ext cx="2468880" cy="548640"/>
          </a:xfrm>
          <a:prstGeom prst="rect">
            <a:avLst/>
          </a:prstGeom>
          <a:solidFill>
            <a:srgbClr val="F4F6F9"/>
          </a:solidFill>
          <a:ln w="6350">
            <a:solidFill>
              <a:srgbClr val="D0D5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2578608"/>
            <a:ext cx="36576" cy="548640"/>
          </a:xfrm>
          <a:prstGeom prst="rect">
            <a:avLst/>
          </a:prstGeom>
          <a:solidFill>
            <a:srgbClr val="5B8EF0"/>
          </a:solidFill>
          <a:ln w="12700">
            <a:solidFill>
              <a:srgbClr val="5B8E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" y="257860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Ghost Practice REST API integration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" y="3236976"/>
            <a:ext cx="2468880" cy="548640"/>
          </a:xfrm>
          <a:prstGeom prst="rect">
            <a:avLst/>
          </a:prstGeom>
          <a:solidFill>
            <a:srgbClr val="F4F6F9"/>
          </a:solidFill>
          <a:ln w="6350">
            <a:solidFill>
              <a:srgbClr val="D0D5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920" y="3236976"/>
            <a:ext cx="36576" cy="548640"/>
          </a:xfrm>
          <a:prstGeom prst="rect">
            <a:avLst/>
          </a:prstGeom>
          <a:solidFill>
            <a:srgbClr val="5B8EF0"/>
          </a:solidFill>
          <a:ln w="12700">
            <a:solidFill>
              <a:srgbClr val="5B8E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" y="323697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authentication (per-attorney accounts)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2920" y="3895344"/>
            <a:ext cx="2468880" cy="548640"/>
          </a:xfrm>
          <a:prstGeom prst="rect">
            <a:avLst/>
          </a:prstGeom>
          <a:solidFill>
            <a:srgbClr val="F4F6F9"/>
          </a:solidFill>
          <a:ln w="6350">
            <a:solidFill>
              <a:srgbClr val="D0D5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3895344"/>
            <a:ext cx="36576" cy="548640"/>
          </a:xfrm>
          <a:prstGeom prst="rect">
            <a:avLst/>
          </a:prstGeom>
          <a:solidFill>
            <a:srgbClr val="5B8EF0"/>
          </a:solidFill>
          <a:ln w="12700">
            <a:solidFill>
              <a:srgbClr val="5B8E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" y="389534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 sync from GP database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46120" y="1261872"/>
            <a:ext cx="274320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E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246120" y="1261872"/>
            <a:ext cx="2743200" cy="53035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83280" y="12801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383280" y="151790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754880" y="133502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3-4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383280" y="1920240"/>
            <a:ext cx="2468880" cy="548640"/>
          </a:xfrm>
          <a:prstGeom prst="rect">
            <a:avLst/>
          </a:prstGeom>
          <a:solidFill>
            <a:srgbClr val="F4F6F9"/>
          </a:solidFill>
          <a:ln w="6350">
            <a:solidFill>
              <a:srgbClr val="D0D5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3280" y="1920240"/>
            <a:ext cx="36576" cy="54864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02152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narration generation (GPT/Claude API)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383280" y="2578608"/>
            <a:ext cx="2468880" cy="548640"/>
          </a:xfrm>
          <a:prstGeom prst="rect">
            <a:avLst/>
          </a:prstGeom>
          <a:solidFill>
            <a:srgbClr val="F4F6F9"/>
          </a:solidFill>
          <a:ln w="6350">
            <a:solidFill>
              <a:srgbClr val="D0D5E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3280" y="2578608"/>
            <a:ext cx="36576" cy="54864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502152" y="257860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matter matching from email history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383280" y="3236976"/>
            <a:ext cx="2468880" cy="548640"/>
          </a:xfrm>
          <a:prstGeom prst="rect">
            <a:avLst/>
          </a:prstGeom>
          <a:solidFill>
            <a:srgbClr val="F4F6F9"/>
          </a:solidFill>
          <a:ln w="6350">
            <a:solidFill>
              <a:srgbClr val="D0D5E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3280" y="3236976"/>
            <a:ext cx="36576" cy="54864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502152" y="323697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approval queue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383280" y="3895344"/>
            <a:ext cx="2468880" cy="548640"/>
          </a:xfrm>
          <a:prstGeom prst="rect">
            <a:avLst/>
          </a:prstGeom>
          <a:solidFill>
            <a:srgbClr val="F4F6F9"/>
          </a:solidFill>
          <a:ln w="6350">
            <a:solidFill>
              <a:srgbClr val="D0D5E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3280" y="3895344"/>
            <a:ext cx="36576" cy="54864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02152" y="389534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Slack/Teams daily reminder notifications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126480" y="1261872"/>
            <a:ext cx="274320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E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126480" y="1261872"/>
            <a:ext cx="2743200" cy="530352"/>
          </a:xfrm>
          <a:prstGeom prst="rect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263640" y="12801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263640" y="151790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635240" y="133502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5-6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263640" y="1920240"/>
            <a:ext cx="2468880" cy="548640"/>
          </a:xfrm>
          <a:prstGeom prst="rect">
            <a:avLst/>
          </a:prstGeom>
          <a:solidFill>
            <a:srgbClr val="F4F6F9"/>
          </a:solidFill>
          <a:ln w="6350">
            <a:solidFill>
              <a:srgbClr val="D0D5E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263640" y="1920240"/>
            <a:ext cx="36576" cy="548640"/>
          </a:xfrm>
          <a:prstGeom prst="rect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82512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 (React Native) for on-the-go capture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3640" y="2578608"/>
            <a:ext cx="2468880" cy="548640"/>
          </a:xfrm>
          <a:prstGeom prst="rect">
            <a:avLst/>
          </a:prstGeom>
          <a:solidFill>
            <a:srgbClr val="F4F6F9"/>
          </a:solidFill>
          <a:ln w="6350">
            <a:solidFill>
              <a:srgbClr val="D0D5E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263640" y="2578608"/>
            <a:ext cx="36576" cy="548640"/>
          </a:xfrm>
          <a:prstGeom prst="rect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82512" y="257860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Multi-user team billing dashboard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263640" y="3236976"/>
            <a:ext cx="2468880" cy="548640"/>
          </a:xfrm>
          <a:prstGeom prst="rect">
            <a:avLst/>
          </a:prstGeom>
          <a:solidFill>
            <a:srgbClr val="F4F6F9"/>
          </a:solidFill>
          <a:ln w="6350">
            <a:solidFill>
              <a:srgbClr val="D0D5E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263640" y="3236976"/>
            <a:ext cx="36576" cy="548640"/>
          </a:xfrm>
          <a:prstGeom prst="rect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82512" y="323697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monthly report generation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6263640" y="3895344"/>
            <a:ext cx="2468880" cy="548640"/>
          </a:xfrm>
          <a:prstGeom prst="rect">
            <a:avLst/>
          </a:prstGeom>
          <a:solidFill>
            <a:srgbClr val="F4F6F9"/>
          </a:solidFill>
          <a:ln w="6350">
            <a:solidFill>
              <a:srgbClr val="D0D5E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263640" y="3895344"/>
            <a:ext cx="36576" cy="548640"/>
          </a:xfrm>
          <a:prstGeom prst="rect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82512" y="389534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POPIA audit trail &amp; data export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365760" y="4983480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prototype is Phase 0 — all functionality demonstrated, production integration would follow these phases.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0"/>
            <a:ext cx="2926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dirty="0">
                <a:solidFill>
                  <a:srgbClr val="0D0F14"/>
                </a:solidFill>
              </a:rPr>
              <a:t>⚖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274320" y="16916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D0F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TimeLex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274320" y="233172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D0F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Stop reconstructing.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i="1" dirty="0">
                <a:solidFill>
                  <a:srgbClr val="0D0F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 billing.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3291840"/>
            <a:ext cx="292608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34290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Kone Tshivhinda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74320" y="370332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PROTOTYPE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74320" y="40690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github.com/konethegreat/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timelex-automated-time-tracking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114800" y="82296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E8E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114800" y="1691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0" y="2084832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  Auto-capture engine — 5 activity types, 7 integration classes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114800" y="246888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 Draft &amp; approve workflow — 1 click instead of hours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114800" y="285292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◫  Live dashboard with billing target tracking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114800" y="323697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  Self-service invoice generator with VAT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114800" y="3621024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Ghost Practice integration layer (simulated + API-ready)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114800" y="4005072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  Modular architecture — 8 source files, 2 000+ lines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114800" y="44348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TimeLex — Automated Legal Time Capture</dc:title>
  <dc:subject>PptxGenJS Presentation</dc:subject>
  <dc:creator>Kone Tshivhinda</dc:creator>
  <cp:lastModifiedBy>Kone Tshivhinda</cp:lastModifiedBy>
  <cp:revision>1</cp:revision>
  <dcterms:created xsi:type="dcterms:W3CDTF">2026-04-23T19:08:42Z</dcterms:created>
  <dcterms:modified xsi:type="dcterms:W3CDTF">2026-04-23T19:08:42Z</dcterms:modified>
</cp:coreProperties>
</file>